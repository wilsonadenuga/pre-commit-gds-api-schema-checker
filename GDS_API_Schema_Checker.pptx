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intro short. It's a small local tool that runs before you commit. That's the whole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land: standards without tooling are standards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human-in-the-loop point. Coach, not gate. Say it once,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file first so people see what 'broken' looks like. Run the tool. First finding: clause quoted, diff shown. Press y. Press n on the next one to prove you can say no. Press e on one to prove you can edit. End on the cost summary at the bottom of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how we'd coach a junior on AI output, this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here. One breath per point, then land the agent angle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472067" t="0" b="0"/>
          <a:stretch/>
        </p:blipFill>
        <p:spPr>
          <a:xfrm>
            <a:off x="914400" y="914400"/>
            <a:ext cx="8686800" cy="914400"/>
          </a:xfrm>
          <a:prstGeom prst="rect">
            <a:avLst/>
          </a:prstGeom>
        </p:spPr>
      </p:pic>
      <p:sp>
        <p:nvSpPr>
          <p:cNvPr id="3" name="Text 0"/>
          <p:cNvSpPr/>
          <p:nvPr/>
        </p:nvSpPr>
        <p:spPr>
          <a:xfrm>
            <a:off x="914400" y="2995613"/>
            <a:ext cx="9555480" cy="361950"/>
          </a:xfrm>
          <a:prstGeom prst="rect">
            <a:avLst/>
          </a:prstGeom>
          <a:noFill/>
          <a:ln/>
        </p:spPr>
        <p:txBody>
          <a:bodyPr wrap="square" lIns="25400" tIns="25400" rIns="25400" bIns="25400" rtlCol="0" anchor="t">
            <a:normAutofit/>
          </a:bodyPr>
          <a:lstStyle/>
          <a:p>
            <a:pPr algn="l" indent="0" marL="0">
              <a:buNone/>
            </a:pPr>
            <a:r>
              <a:rPr lang="en-US" sz="1950" spc="234" kern="0" dirty="0">
                <a:solidFill>
                  <a:srgbClr val="4A4E4E"/>
                </a:solidFill>
                <a:latin typeface="Courier New" pitchFamily="34" charset="0"/>
                <a:ea typeface="Courier New" pitchFamily="34" charset="-122"/>
                <a:cs typeface="Courier New" pitchFamily="34" charset="-120"/>
              </a:rPr>
              <a:t>PRE-COMMIT TOOLING</a:t>
            </a:r>
            <a:endParaRPr lang="en-US" sz="1950" dirty="0"/>
          </a:p>
        </p:txBody>
      </p:sp>
      <p:sp>
        <p:nvSpPr>
          <p:cNvPr id="4" name="Text 1"/>
          <p:cNvSpPr/>
          <p:nvPr/>
        </p:nvSpPr>
        <p:spPr>
          <a:xfrm>
            <a:off x="914400" y="3662362"/>
            <a:ext cx="8947404" cy="1979414"/>
          </a:xfrm>
          <a:prstGeom prst="rect">
            <a:avLst/>
          </a:prstGeom>
          <a:noFill/>
          <a:ln/>
        </p:spPr>
        <p:txBody>
          <a:bodyPr wrap="square" lIns="25400" tIns="25400" rIns="25400" bIns="25400" rtlCol="0" anchor="t">
            <a:normAutofit/>
          </a:bodyPr>
          <a:lstStyle/>
          <a:p>
            <a:pPr algn="l" indent="0" marL="0">
              <a:lnSpc>
                <a:spcPct val="86373"/>
              </a:lnSpc>
              <a:buNone/>
            </a:pPr>
            <a:r>
              <a:rPr lang="en-US" sz="7800" b="1" spc="-234" kern="0" dirty="0">
                <a:solidFill>
                  <a:srgbClr val="0B0C0C"/>
                </a:solidFill>
                <a:latin typeface="Courier New" pitchFamily="34" charset="0"/>
                <a:ea typeface="Courier New" pitchFamily="34" charset="-122"/>
                <a:cs typeface="Courier New" pitchFamily="34" charset="-120"/>
              </a:rPr>
              <a:t>gds-api- schema-uplift</a:t>
            </a:r>
            <a:endParaRPr lang="en-US" sz="7800" dirty="0"/>
          </a:p>
        </p:txBody>
      </p:sp>
      <p:sp>
        <p:nvSpPr>
          <p:cNvPr id="5" name="Text 2"/>
          <p:cNvSpPr/>
          <p:nvPr/>
        </p:nvSpPr>
        <p:spPr>
          <a:xfrm>
            <a:off x="914400" y="5946577"/>
            <a:ext cx="4145502" cy="1992511"/>
          </a:xfrm>
          <a:prstGeom prst="rect">
            <a:avLst/>
          </a:prstGeom>
          <a:noFill/>
          <a:ln/>
        </p:spPr>
        <p:txBody>
          <a:bodyPr wrap="square" lIns="25400" tIns="25400" rIns="25400" bIns="25400" rtlCol="0" anchor="t">
            <a:normAutofit/>
          </a:bodyPr>
          <a:lstStyle/>
          <a:p>
            <a:pPr algn="l" indent="0" marL="0">
              <a:lnSpc>
                <a:spcPct val="111522"/>
              </a:lnSpc>
              <a:buNone/>
            </a:pPr>
            <a:r>
              <a:rPr lang="en-US" sz="2850" dirty="0">
                <a:solidFill>
                  <a:srgbClr val="0B0C0C"/>
                </a:solidFill>
                <a:latin typeface="Helvetica Neue" pitchFamily="34" charset="0"/>
                <a:ea typeface="Helvetica Neue" pitchFamily="34" charset="-122"/>
                <a:cs typeface="Helvetica Neue" pitchFamily="34" charset="-120"/>
              </a:rPr>
              <a:t>A pre-commit check for the GDS API Standards, with an AI assistant that suggests the fix.</a:t>
            </a:r>
            <a:endParaRPr lang="en-US" sz="2850" dirty="0"/>
          </a:p>
        </p:txBody>
      </p:sp>
      <p:sp>
        <p:nvSpPr>
          <p:cNvPr id="6" name="Text 3"/>
          <p:cNvSpPr/>
          <p:nvPr/>
        </p:nvSpPr>
        <p:spPr>
          <a:xfrm>
            <a:off x="914400" y="9067800"/>
            <a:ext cx="95554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F6F"/>
                </a:solidFill>
                <a:latin typeface="Courier New" pitchFamily="34" charset="0"/>
                <a:ea typeface="Courier New" pitchFamily="34" charset="-122"/>
                <a:cs typeface="Courier New" pitchFamily="34" charset="-120"/>
              </a:rPr>
              <a:t>AI Accelerator for Engineers</a:t>
            </a:r>
            <a:endParaRPr lang="en-US" sz="1800" dirty="0"/>
          </a:p>
        </p:txBody>
      </p:sp>
      <p:sp>
        <p:nvSpPr>
          <p:cNvPr id="7" name="Shape 4"/>
          <p:cNvSpPr/>
          <p:nvPr/>
        </p:nvSpPr>
        <p:spPr>
          <a:xfrm>
            <a:off x="10515600" y="0"/>
            <a:ext cx="7772400" cy="10287000"/>
          </a:xfrm>
          <a:prstGeom prst="rect">
            <a:avLst/>
          </a:prstGeom>
          <a:solidFill>
            <a:srgbClr val="B1CC33"/>
          </a:solidFill>
          <a:ln/>
        </p:spPr>
      </p:sp>
      <p:sp>
        <p:nvSpPr>
          <p:cNvPr id="8" name="Shape 5"/>
          <p:cNvSpPr/>
          <p:nvPr/>
        </p:nvSpPr>
        <p:spPr>
          <a:xfrm>
            <a:off x="12458700" y="0"/>
            <a:ext cx="5829300" cy="3429000"/>
          </a:xfrm>
          <a:custGeom>
            <a:avLst/>
            <a:gdLst/>
            <a:ahLst/>
            <a:cxnLst/>
            <a:rect l="l" t="t" r="r" b="b"/>
            <a:pathLst>
              <a:path w="5829300" h="3429000">
                <a:moveTo>
                  <a:pt x="0" y="0"/>
                </a:moveTo>
                <a:lnTo>
                  <a:pt x="5829300" y="0"/>
                </a:lnTo>
                <a:lnTo>
                  <a:pt x="5829300" y="3429000"/>
                </a:lnTo>
                <a:lnTo>
                  <a:pt x="533400" y="3429000"/>
                </a:lnTo>
                <a:arcTo hR="533400" wR="533400" stAng="5400000" swAng="5400000"/>
                <a:lnTo>
                  <a:pt x="0" y="0"/>
                </a:lnTo>
                <a:close/>
              </a:path>
            </a:pathLst>
          </a:custGeom>
          <a:solidFill>
            <a:srgbClr val="F499C6"/>
          </a:solidFill>
          <a:ln/>
        </p:spPr>
      </p:sp>
      <p:sp>
        <p:nvSpPr>
          <p:cNvPr id="9" name="Shape 6"/>
          <p:cNvSpPr/>
          <p:nvPr/>
        </p:nvSpPr>
        <p:spPr>
          <a:xfrm>
            <a:off x="12458700" y="3429000"/>
            <a:ext cx="1943100" cy="1714500"/>
          </a:xfrm>
          <a:prstGeom prst="roundRect">
            <a:avLst>
              <a:gd name="adj" fmla="val 31111"/>
            </a:avLst>
          </a:prstGeom>
          <a:solidFill>
            <a:srgbClr val="F499C6"/>
          </a:solidFill>
          <a:ln/>
        </p:spPr>
      </p:sp>
      <p:sp>
        <p:nvSpPr>
          <p:cNvPr id="10" name="Shape 7"/>
          <p:cNvSpPr/>
          <p:nvPr/>
        </p:nvSpPr>
        <p:spPr>
          <a:xfrm>
            <a:off x="16344900" y="3429000"/>
            <a:ext cx="1943100" cy="3429000"/>
          </a:xfrm>
          <a:custGeom>
            <a:avLst/>
            <a:gdLst/>
            <a:ahLst/>
            <a:cxnLst/>
            <a:rect l="l" t="t" r="r" b="b"/>
            <a:pathLst>
              <a:path w="1943100" h="3429000">
                <a:moveTo>
                  <a:pt x="533400" y="0"/>
                </a:moveTo>
                <a:lnTo>
                  <a:pt x="1943100" y="0"/>
                </a:lnTo>
                <a:lnTo>
                  <a:pt x="1943100" y="3429000"/>
                </a:lnTo>
                <a:lnTo>
                  <a:pt x="533400" y="3429000"/>
                </a:lnTo>
                <a:arcTo hR="533400" wR="533400" stAng="5400000" swAng="5400000"/>
                <a:lnTo>
                  <a:pt x="0" y="533400"/>
                </a:lnTo>
                <a:arcTo hR="533400" wR="533400" stAng="10800000" swAng="5400000"/>
                <a:close/>
              </a:path>
            </a:pathLst>
          </a:custGeom>
          <a:solidFill>
            <a:srgbClr val="FFDD00"/>
          </a:solidFill>
          <a:ln/>
        </p:spPr>
      </p:sp>
      <p:sp>
        <p:nvSpPr>
          <p:cNvPr id="11" name="Shape 8"/>
          <p:cNvSpPr/>
          <p:nvPr/>
        </p:nvSpPr>
        <p:spPr>
          <a:xfrm>
            <a:off x="10515600" y="6858000"/>
            <a:ext cx="5829300" cy="3429000"/>
          </a:xfrm>
          <a:custGeom>
            <a:avLst/>
            <a:gdLst/>
            <a:ahLst/>
            <a:cxnLst/>
            <a:rect l="l" t="t" r="r" b="b"/>
            <a:pathLst>
              <a:path w="5829300" h="3429000">
                <a:moveTo>
                  <a:pt x="0" y="0"/>
                </a:moveTo>
                <a:lnTo>
                  <a:pt x="5295900" y="0"/>
                </a:lnTo>
                <a:arcTo hR="533400" wR="533400" stAng="16200000" swAng="5400000"/>
                <a:lnTo>
                  <a:pt x="5829300" y="3429000"/>
                </a:lnTo>
                <a:lnTo>
                  <a:pt x="0" y="3429000"/>
                </a:lnTo>
                <a:lnTo>
                  <a:pt x="0" y="0"/>
                </a:lnTo>
                <a:close/>
              </a:path>
            </a:pathLst>
          </a:custGeom>
          <a:solidFill>
            <a:srgbClr val="FFDD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933450"/>
            <a:ext cx="266700" cy="266700"/>
          </a:xfrm>
          <a:prstGeom prst="roundRect">
            <a:avLst>
              <a:gd name="adj" fmla="val 28571"/>
            </a:avLst>
          </a:prstGeom>
          <a:solidFill>
            <a:srgbClr val="F499C6"/>
          </a:solidFill>
          <a:ln/>
        </p:spPr>
      </p:sp>
      <p:sp>
        <p:nvSpPr>
          <p:cNvPr id="3" name="Text 1"/>
          <p:cNvSpPr/>
          <p:nvPr/>
        </p:nvSpPr>
        <p:spPr>
          <a:xfrm>
            <a:off x="1409700" y="914400"/>
            <a:ext cx="1991707"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4A4E4E"/>
                </a:solidFill>
                <a:latin typeface="Courier New" pitchFamily="34" charset="0"/>
                <a:ea typeface="Courier New" pitchFamily="34" charset="-122"/>
                <a:cs typeface="Courier New" pitchFamily="34" charset="-120"/>
              </a:rPr>
              <a:t>THE PROBLEM</a:t>
            </a:r>
            <a:endParaRPr lang="en-US" sz="1800" dirty="0"/>
          </a:p>
        </p:txBody>
      </p:sp>
      <p:sp>
        <p:nvSpPr>
          <p:cNvPr id="4" name="Text 2"/>
          <p:cNvSpPr/>
          <p:nvPr/>
        </p:nvSpPr>
        <p:spPr>
          <a:xfrm>
            <a:off x="914400" y="2738735"/>
            <a:ext cx="14662319" cy="2171700"/>
          </a:xfrm>
          <a:prstGeom prst="rect">
            <a:avLst/>
          </a:prstGeom>
          <a:noFill/>
          <a:ln/>
        </p:spPr>
        <p:txBody>
          <a:bodyPr wrap="square" lIns="25400" tIns="25400" rIns="25400" bIns="25400" rtlCol="0" anchor="t">
            <a:normAutofit/>
          </a:bodyPr>
          <a:lstStyle/>
          <a:p>
            <a:pPr algn="l" indent="0" marL="0">
              <a:lnSpc>
                <a:spcPct val="82353"/>
              </a:lnSpc>
              <a:buNone/>
            </a:pPr>
            <a:r>
              <a:rPr lang="en-US" sz="8400" b="1" spc="-252" kern="0" dirty="0">
                <a:solidFill>
                  <a:srgbClr val="0B0C0C"/>
                </a:solidFill>
                <a:latin typeface="Helvetica Neue" pitchFamily="34" charset="0"/>
                <a:ea typeface="Helvetica Neue" pitchFamily="34" charset="-122"/>
                <a:cs typeface="Helvetica Neue" pitchFamily="34" charset="-120"/>
              </a:rPr>
              <a:t>Standards without tooling are standards on paper.</a:t>
            </a:r>
            <a:endParaRPr lang="en-US" sz="8400" dirty="0"/>
          </a:p>
        </p:txBody>
      </p:sp>
      <p:sp>
        <p:nvSpPr>
          <p:cNvPr id="5" name="Shape 3"/>
          <p:cNvSpPr/>
          <p:nvPr/>
        </p:nvSpPr>
        <p:spPr>
          <a:xfrm>
            <a:off x="914400" y="6391870"/>
            <a:ext cx="16459200" cy="38100"/>
          </a:xfrm>
          <a:prstGeom prst="rect">
            <a:avLst/>
          </a:prstGeom>
          <a:solidFill>
            <a:srgbClr val="0B0C0C"/>
          </a:solidFill>
          <a:ln/>
        </p:spPr>
      </p:sp>
      <p:sp>
        <p:nvSpPr>
          <p:cNvPr id="6" name="Text 4"/>
          <p:cNvSpPr/>
          <p:nvPr/>
        </p:nvSpPr>
        <p:spPr>
          <a:xfrm>
            <a:off x="914400" y="6887170"/>
            <a:ext cx="8084058" cy="2523530"/>
          </a:xfrm>
          <a:prstGeom prst="rect">
            <a:avLst/>
          </a:prstGeom>
          <a:noFill/>
          <a:ln/>
        </p:spPr>
        <p:txBody>
          <a:bodyPr wrap="square" lIns="25400" tIns="25400" rIns="25400" bIns="25400" rtlCol="0" anchor="t">
            <a:normAutofit/>
          </a:bodyPr>
          <a:lstStyle/>
          <a:p>
            <a:pPr algn="l" indent="0" marL="0">
              <a:lnSpc>
                <a:spcPct val="121395"/>
              </a:lnSpc>
              <a:buNone/>
            </a:pPr>
            <a:r>
              <a:rPr lang="en-US" sz="2700" dirty="0">
                <a:solidFill>
                  <a:srgbClr val="0B0C0C"/>
                </a:solidFill>
                <a:latin typeface="Helvetica Neue" pitchFamily="34" charset="0"/>
                <a:ea typeface="Helvetica Neue" pitchFamily="34" charset="-122"/>
                <a:cs typeface="Helvetica Neue" pitchFamily="34" charset="-120"/>
              </a:rPr>
              <a:t>The GDS API Standards are written as prose, so no computer can check them directly. Compliance ends up being caught at code review, or missed entirely. Every team writes their own version of the checks and they drift apart.</a:t>
            </a:r>
            <a:endParaRPr lang="en-US" sz="2700" dirty="0"/>
          </a:p>
        </p:txBody>
      </p:sp>
      <p:sp>
        <p:nvSpPr>
          <p:cNvPr id="7" name="Text 5"/>
          <p:cNvSpPr/>
          <p:nvPr/>
        </p:nvSpPr>
        <p:spPr>
          <a:xfrm>
            <a:off x="9525000" y="6887170"/>
            <a:ext cx="8084058" cy="2523530"/>
          </a:xfrm>
          <a:prstGeom prst="rect">
            <a:avLst/>
          </a:prstGeom>
          <a:noFill/>
          <a:ln/>
        </p:spPr>
        <p:txBody>
          <a:bodyPr wrap="square" lIns="25400" tIns="25400" rIns="25400" bIns="25400" rtlCol="0" anchor="t">
            <a:normAutofit/>
          </a:bodyPr>
          <a:lstStyle/>
          <a:p>
            <a:pPr algn="l" indent="0" marL="0">
              <a:lnSpc>
                <a:spcPct val="121395"/>
              </a:lnSpc>
              <a:buNone/>
            </a:pPr>
            <a:r>
              <a:rPr lang="en-US" sz="2700" dirty="0">
                <a:solidFill>
                  <a:srgbClr val="0B0C0C"/>
                </a:solidFill>
                <a:latin typeface="Helvetica Neue" pitchFamily="34" charset="0"/>
                <a:ea typeface="Helvetica Neue" pitchFamily="34" charset="-122"/>
                <a:cs typeface="Helvetica Neue" pitchFamily="34" charset="-120"/>
              </a:rPr>
              <a:t>It matters more than it used to. AI agents now read OpenAPI specs directly to work out how to call an API. </a:t>
            </a:r>
            <a:pPr algn="l" indent="0" marL="0">
              <a:lnSpc>
                <a:spcPct val="121395"/>
              </a:lnSpc>
              <a:buNone/>
            </a:pPr>
            <a:r>
              <a:rPr lang="en-US" sz="2700" b="1" dirty="0">
                <a:solidFill>
                  <a:srgbClr val="0B0C0C"/>
                </a:solidFill>
                <a:highlight>
                  <a:srgbClr val="FFDD00"/>
                </a:highlight>
                <a:latin typeface="Helvetica Neue" pitchFamily="34" charset="0"/>
                <a:ea typeface="Helvetica Neue" pitchFamily="34" charset="-122"/>
                <a:cs typeface="Helvetica Neue" pitchFamily="34" charset="-120"/>
              </a:rPr>
              <a:t>When the spec is off, it isn't just a review nit; the agent gives up.</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933450"/>
            <a:ext cx="266700" cy="266700"/>
          </a:xfrm>
          <a:prstGeom prst="roundRect">
            <a:avLst>
              <a:gd name="adj" fmla="val 28571"/>
            </a:avLst>
          </a:prstGeom>
          <a:solidFill>
            <a:srgbClr val="B1CC33"/>
          </a:solidFill>
          <a:ln/>
        </p:spPr>
      </p:sp>
      <p:sp>
        <p:nvSpPr>
          <p:cNvPr id="3" name="Text 1"/>
          <p:cNvSpPr/>
          <p:nvPr/>
        </p:nvSpPr>
        <p:spPr>
          <a:xfrm>
            <a:off x="1409700" y="914400"/>
            <a:ext cx="2353672"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4A4E4E"/>
                </a:solidFill>
                <a:latin typeface="Courier New" pitchFamily="34" charset="0"/>
                <a:ea typeface="Courier New" pitchFamily="34" charset="-122"/>
                <a:cs typeface="Courier New" pitchFamily="34" charset="-120"/>
              </a:rPr>
              <a:t>WHAT WE BUILT</a:t>
            </a:r>
            <a:endParaRPr lang="en-US" sz="1800" dirty="0"/>
          </a:p>
        </p:txBody>
      </p:sp>
      <p:sp>
        <p:nvSpPr>
          <p:cNvPr id="4" name="Text 2"/>
          <p:cNvSpPr/>
          <p:nvPr/>
        </p:nvSpPr>
        <p:spPr>
          <a:xfrm>
            <a:off x="914400" y="2608064"/>
            <a:ext cx="8084058" cy="1529060"/>
          </a:xfrm>
          <a:prstGeom prst="rect">
            <a:avLst/>
          </a:prstGeom>
          <a:noFill/>
          <a:ln/>
        </p:spPr>
        <p:txBody>
          <a:bodyPr wrap="square" lIns="25400" tIns="25400" rIns="25400" bIns="25400" rtlCol="0" anchor="t">
            <a:normAutofit/>
          </a:bodyPr>
          <a:lstStyle/>
          <a:p>
            <a:pPr algn="l" indent="0" marL="0">
              <a:lnSpc>
                <a:spcPct val="85087"/>
              </a:lnSpc>
              <a:buNone/>
            </a:pPr>
            <a:r>
              <a:rPr lang="en-US" sz="5700" b="1" spc="-142" kern="0" dirty="0">
                <a:solidFill>
                  <a:srgbClr val="0B0C0C"/>
                </a:solidFill>
                <a:latin typeface="Helvetica Neue" pitchFamily="34" charset="0"/>
                <a:ea typeface="Helvetica Neue" pitchFamily="34" charset="-122"/>
                <a:cs typeface="Helvetica Neue" pitchFamily="34" charset="-120"/>
              </a:rPr>
              <a:t>One command, before you commit.</a:t>
            </a:r>
            <a:endParaRPr lang="en-US" sz="5700" dirty="0"/>
          </a:p>
        </p:txBody>
      </p:sp>
      <p:sp>
        <p:nvSpPr>
          <p:cNvPr id="5" name="Shape 3"/>
          <p:cNvSpPr/>
          <p:nvPr/>
        </p:nvSpPr>
        <p:spPr>
          <a:xfrm>
            <a:off x="914400" y="5487888"/>
            <a:ext cx="7848600" cy="1666875"/>
          </a:xfrm>
          <a:prstGeom prst="roundRect">
            <a:avLst>
              <a:gd name="adj" fmla="val 11429"/>
            </a:avLst>
          </a:prstGeom>
          <a:solidFill>
            <a:srgbClr val="0B0C0C"/>
          </a:solidFill>
          <a:ln/>
        </p:spPr>
      </p:sp>
      <p:sp>
        <p:nvSpPr>
          <p:cNvPr id="6" name="Text 4"/>
          <p:cNvSpPr/>
          <p:nvPr/>
        </p:nvSpPr>
        <p:spPr>
          <a:xfrm>
            <a:off x="1333500" y="5868888"/>
            <a:ext cx="7711440" cy="381000"/>
          </a:xfrm>
          <a:prstGeom prst="rect">
            <a:avLst/>
          </a:prstGeom>
          <a:noFill/>
          <a:ln/>
        </p:spPr>
        <p:txBody>
          <a:bodyPr wrap="square" lIns="25400" tIns="25400" rIns="25400" bIns="25400" rtlCol="0" anchor="t">
            <a:normAutofit/>
          </a:bodyPr>
          <a:lstStyle/>
          <a:p>
            <a:pPr algn="l" indent="0" marL="0">
              <a:lnSpc>
                <a:spcPct val="133333"/>
              </a:lnSpc>
              <a:buNone/>
            </a:pPr>
            <a:r>
              <a:rPr lang="en-US" sz="1800" dirty="0">
                <a:solidFill>
                  <a:srgbClr val="6B6F6F"/>
                </a:solidFill>
                <a:latin typeface="Courier New" pitchFamily="34" charset="0"/>
                <a:ea typeface="Courier New" pitchFamily="34" charset="-122"/>
                <a:cs typeface="Courier New" pitchFamily="34" charset="-120"/>
              </a:rPr>
              <a:t>terminal</a:t>
            </a:r>
            <a:endParaRPr lang="en-US" sz="1800" dirty="0"/>
          </a:p>
        </p:txBody>
      </p:sp>
      <p:sp>
        <p:nvSpPr>
          <p:cNvPr id="7" name="Text 5"/>
          <p:cNvSpPr/>
          <p:nvPr/>
        </p:nvSpPr>
        <p:spPr>
          <a:xfrm>
            <a:off x="1333500" y="6345138"/>
            <a:ext cx="7711440"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B1CC33"/>
                </a:solidFill>
                <a:latin typeface="Courier New" pitchFamily="34" charset="0"/>
                <a:ea typeface="Courier New" pitchFamily="34" charset="-122"/>
                <a:cs typeface="Courier New" pitchFamily="34" charset="-120"/>
              </a:rPr>
              <a:t>$ gds-api-schema-uplift openapi.yaml</a:t>
            </a:r>
            <a:endParaRPr lang="en-US" sz="2250" dirty="0"/>
          </a:p>
        </p:txBody>
      </p:sp>
      <p:sp>
        <p:nvSpPr>
          <p:cNvPr id="8" name="Text 6"/>
          <p:cNvSpPr/>
          <p:nvPr/>
        </p:nvSpPr>
        <p:spPr>
          <a:xfrm>
            <a:off x="914400" y="8543627"/>
            <a:ext cx="8084058" cy="866775"/>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3D4141"/>
                </a:solidFill>
                <a:latin typeface="Helvetica Neue" pitchFamily="34" charset="0"/>
                <a:ea typeface="Helvetica Neue" pitchFamily="34" charset="-122"/>
                <a:cs typeface="Helvetica Neue" pitchFamily="34" charset="-120"/>
              </a:rPr>
              <a:t>Nothing is written to disk without an explicit yes, and a backup is taken first.</a:t>
            </a:r>
            <a:endParaRPr lang="en-US" sz="2250" dirty="0"/>
          </a:p>
        </p:txBody>
      </p:sp>
      <p:sp>
        <p:nvSpPr>
          <p:cNvPr id="9" name="Shape 7"/>
          <p:cNvSpPr/>
          <p:nvPr/>
        </p:nvSpPr>
        <p:spPr>
          <a:xfrm>
            <a:off x="9525000" y="2472630"/>
            <a:ext cx="7848600" cy="19050"/>
          </a:xfrm>
          <a:prstGeom prst="rect">
            <a:avLst/>
          </a:prstGeom>
          <a:solidFill>
            <a:srgbClr val="D9DCDC"/>
          </a:solidFill>
          <a:ln/>
        </p:spPr>
      </p:sp>
      <p:sp>
        <p:nvSpPr>
          <p:cNvPr id="10" name="Text 8"/>
          <p:cNvSpPr/>
          <p:nvPr/>
        </p:nvSpPr>
        <p:spPr>
          <a:xfrm>
            <a:off x="9525000" y="1257300"/>
            <a:ext cx="647700" cy="910530"/>
          </a:xfrm>
          <a:prstGeom prst="rect">
            <a:avLst/>
          </a:prstGeom>
          <a:noFill/>
          <a:ln/>
        </p:spPr>
        <p:txBody>
          <a:bodyPr wrap="square" lIns="25400" tIns="25400" rIns="25400" bIns="25400" rtlCol="0" anchor="t">
            <a:normAutofit/>
          </a:bodyPr>
          <a:lstStyle/>
          <a:p>
            <a:pPr algn="l" indent="0" marL="0">
              <a:buNone/>
            </a:pPr>
            <a:r>
              <a:rPr lang="en-US" sz="1950" dirty="0">
                <a:solidFill>
                  <a:srgbClr val="8B8F8F"/>
                </a:solidFill>
                <a:latin typeface="Courier New" pitchFamily="34" charset="0"/>
                <a:ea typeface="Courier New" pitchFamily="34" charset="-122"/>
                <a:cs typeface="Courier New" pitchFamily="34" charset="-120"/>
              </a:rPr>
              <a:t>01</a:t>
            </a:r>
            <a:endParaRPr lang="en-US" sz="1950" dirty="0"/>
          </a:p>
        </p:txBody>
      </p:sp>
      <p:sp>
        <p:nvSpPr>
          <p:cNvPr id="11" name="Text 9"/>
          <p:cNvSpPr/>
          <p:nvPr/>
        </p:nvSpPr>
        <p:spPr>
          <a:xfrm>
            <a:off x="10401300" y="1257300"/>
            <a:ext cx="7181469" cy="910530"/>
          </a:xfrm>
          <a:prstGeom prst="rect">
            <a:avLst/>
          </a:prstGeom>
          <a:noFill/>
          <a:ln/>
        </p:spPr>
        <p:txBody>
          <a:bodyPr wrap="square" lIns="25400" tIns="25400" rIns="25400" bIns="25400" rtlCol="0" anchor="t">
            <a:normAutofit/>
          </a:bodyPr>
          <a:lstStyle/>
          <a:p>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Parses the spec and checks it against the </a:t>
            </a:r>
            <a:pPr algn="l" indent="0" marL="0">
              <a:lnSpc>
                <a:spcPct val="117895"/>
              </a:lnSpc>
              <a:buNone/>
            </a:pPr>
            <a:r>
              <a:rPr lang="en-US" sz="2400" b="1" dirty="0">
                <a:solidFill>
                  <a:srgbClr val="0B0C0C"/>
                </a:solidFill>
                <a:latin typeface="Helvetica Neue" pitchFamily="34" charset="0"/>
                <a:ea typeface="Helvetica Neue" pitchFamily="34" charset="-122"/>
                <a:cs typeface="Helvetica Neue" pitchFamily="34" charset="-120"/>
              </a:rPr>
              <a:t>GDS and NCSC standards </a:t>
            </a:r>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a:t>
            </a:r>
            <a:endParaRPr lang="en-US" sz="2400" dirty="0"/>
          </a:p>
        </p:txBody>
      </p:sp>
      <p:sp>
        <p:nvSpPr>
          <p:cNvPr id="12" name="Shape 10"/>
          <p:cNvSpPr/>
          <p:nvPr/>
        </p:nvSpPr>
        <p:spPr>
          <a:xfrm>
            <a:off x="9525000" y="4769346"/>
            <a:ext cx="7848600" cy="19050"/>
          </a:xfrm>
          <a:prstGeom prst="rect">
            <a:avLst/>
          </a:prstGeom>
          <a:solidFill>
            <a:srgbClr val="D9DCDC"/>
          </a:solidFill>
          <a:ln/>
        </p:spPr>
      </p:sp>
      <p:sp>
        <p:nvSpPr>
          <p:cNvPr id="13" name="Text 11"/>
          <p:cNvSpPr/>
          <p:nvPr/>
        </p:nvSpPr>
        <p:spPr>
          <a:xfrm>
            <a:off x="9525000" y="3563541"/>
            <a:ext cx="647700" cy="901005"/>
          </a:xfrm>
          <a:prstGeom prst="rect">
            <a:avLst/>
          </a:prstGeom>
          <a:noFill/>
          <a:ln/>
        </p:spPr>
        <p:txBody>
          <a:bodyPr wrap="square" lIns="25400" tIns="25400" rIns="25400" bIns="25400" rtlCol="0" anchor="t">
            <a:normAutofit/>
          </a:bodyPr>
          <a:lstStyle/>
          <a:p>
            <a:pPr algn="l" indent="0" marL="0">
              <a:buNone/>
            </a:pPr>
            <a:r>
              <a:rPr lang="en-US" sz="1950" dirty="0">
                <a:solidFill>
                  <a:srgbClr val="8B8F8F"/>
                </a:solidFill>
                <a:latin typeface="Courier New" pitchFamily="34" charset="0"/>
                <a:ea typeface="Courier New" pitchFamily="34" charset="-122"/>
                <a:cs typeface="Courier New" pitchFamily="34" charset="-120"/>
              </a:rPr>
              <a:t>02</a:t>
            </a:r>
            <a:endParaRPr lang="en-US" sz="1950" dirty="0"/>
          </a:p>
        </p:txBody>
      </p:sp>
      <p:sp>
        <p:nvSpPr>
          <p:cNvPr id="14" name="Text 12"/>
          <p:cNvSpPr/>
          <p:nvPr/>
        </p:nvSpPr>
        <p:spPr>
          <a:xfrm>
            <a:off x="10401300" y="3563541"/>
            <a:ext cx="7181469" cy="901005"/>
          </a:xfrm>
          <a:prstGeom prst="rect">
            <a:avLst/>
          </a:prstGeom>
          <a:noFill/>
          <a:ln/>
        </p:spPr>
        <p:txBody>
          <a:bodyPr wrap="square" lIns="25400" tIns="25400" rIns="25400" bIns="25400" rtlCol="0" anchor="t">
            <a:normAutofit/>
          </a:bodyPr>
          <a:lstStyle/>
          <a:p>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Prints each issue alongside the </a:t>
            </a:r>
            <a:pPr algn="l" indent="0" marL="0">
              <a:lnSpc>
                <a:spcPct val="117895"/>
              </a:lnSpc>
              <a:buNone/>
            </a:pPr>
            <a:r>
              <a:rPr lang="en-US" sz="2400" b="1" dirty="0">
                <a:solidFill>
                  <a:srgbClr val="0B0C0C"/>
                </a:solidFill>
                <a:latin typeface="Helvetica Neue" pitchFamily="34" charset="0"/>
                <a:ea typeface="Helvetica Neue" pitchFamily="34" charset="-122"/>
                <a:cs typeface="Helvetica Neue" pitchFamily="34" charset="-120"/>
              </a:rPr>
              <a:t>exact clause </a:t>
            </a:r>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it comes from.</a:t>
            </a:r>
            <a:endParaRPr lang="en-US" sz="2400" dirty="0"/>
          </a:p>
        </p:txBody>
      </p:sp>
      <p:sp>
        <p:nvSpPr>
          <p:cNvPr id="15" name="Shape 13"/>
          <p:cNvSpPr/>
          <p:nvPr/>
        </p:nvSpPr>
        <p:spPr>
          <a:xfrm>
            <a:off x="9525000" y="7075587"/>
            <a:ext cx="7848600" cy="19050"/>
          </a:xfrm>
          <a:prstGeom prst="rect">
            <a:avLst/>
          </a:prstGeom>
          <a:solidFill>
            <a:srgbClr val="D9DCDC"/>
          </a:solidFill>
          <a:ln/>
        </p:spPr>
      </p:sp>
      <p:sp>
        <p:nvSpPr>
          <p:cNvPr id="16" name="Text 14"/>
          <p:cNvSpPr/>
          <p:nvPr/>
        </p:nvSpPr>
        <p:spPr>
          <a:xfrm>
            <a:off x="9525000" y="5860256"/>
            <a:ext cx="647700" cy="910530"/>
          </a:xfrm>
          <a:prstGeom prst="rect">
            <a:avLst/>
          </a:prstGeom>
          <a:noFill/>
          <a:ln/>
        </p:spPr>
        <p:txBody>
          <a:bodyPr wrap="square" lIns="25400" tIns="25400" rIns="25400" bIns="25400" rtlCol="0" anchor="t">
            <a:normAutofit/>
          </a:bodyPr>
          <a:lstStyle/>
          <a:p>
            <a:pPr algn="l" indent="0" marL="0">
              <a:buNone/>
            </a:pPr>
            <a:r>
              <a:rPr lang="en-US" sz="1950" dirty="0">
                <a:solidFill>
                  <a:srgbClr val="8B8F8F"/>
                </a:solidFill>
                <a:latin typeface="Courier New" pitchFamily="34" charset="0"/>
                <a:ea typeface="Courier New" pitchFamily="34" charset="-122"/>
                <a:cs typeface="Courier New" pitchFamily="34" charset="-120"/>
              </a:rPr>
              <a:t>03</a:t>
            </a:r>
            <a:endParaRPr lang="en-US" sz="1950" dirty="0"/>
          </a:p>
        </p:txBody>
      </p:sp>
      <p:sp>
        <p:nvSpPr>
          <p:cNvPr id="17" name="Text 15"/>
          <p:cNvSpPr/>
          <p:nvPr/>
        </p:nvSpPr>
        <p:spPr>
          <a:xfrm>
            <a:off x="10401300" y="5860256"/>
            <a:ext cx="7181469" cy="910530"/>
          </a:xfrm>
          <a:prstGeom prst="rect">
            <a:avLst/>
          </a:prstGeom>
          <a:noFill/>
          <a:ln/>
        </p:spPr>
        <p:txBody>
          <a:bodyPr wrap="square" lIns="25400" tIns="25400" rIns="25400" bIns="25400" rtlCol="0" anchor="t">
            <a:normAutofit/>
          </a:bodyPr>
          <a:lstStyle/>
          <a:p>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For anything needing judgement, </a:t>
            </a:r>
            <a:pPr algn="l" indent="0" marL="0">
              <a:lnSpc>
                <a:spcPct val="117895"/>
              </a:lnSpc>
              <a:buNone/>
            </a:pPr>
            <a:r>
              <a:rPr lang="en-US" sz="2400" b="1" dirty="0">
                <a:solidFill>
                  <a:srgbClr val="0B0C0C"/>
                </a:solidFill>
                <a:latin typeface="Helvetica Neue" pitchFamily="34" charset="0"/>
                <a:ea typeface="Helvetica Neue" pitchFamily="34" charset="-122"/>
                <a:cs typeface="Helvetica Neue" pitchFamily="34" charset="-120"/>
              </a:rPr>
              <a:t>Claude proposes a concrete fix </a:t>
            </a:r>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a:t>
            </a:r>
            <a:endParaRPr lang="en-US" sz="2400" dirty="0"/>
          </a:p>
        </p:txBody>
      </p:sp>
      <p:sp>
        <p:nvSpPr>
          <p:cNvPr id="18" name="Text 16"/>
          <p:cNvSpPr/>
          <p:nvPr/>
        </p:nvSpPr>
        <p:spPr>
          <a:xfrm>
            <a:off x="9525000" y="8166497"/>
            <a:ext cx="647700" cy="901005"/>
          </a:xfrm>
          <a:prstGeom prst="rect">
            <a:avLst/>
          </a:prstGeom>
          <a:noFill/>
          <a:ln/>
        </p:spPr>
        <p:txBody>
          <a:bodyPr wrap="square" lIns="25400" tIns="25400" rIns="25400" bIns="25400" rtlCol="0" anchor="t">
            <a:normAutofit/>
          </a:bodyPr>
          <a:lstStyle/>
          <a:p>
            <a:pPr algn="l" indent="0" marL="0">
              <a:buNone/>
            </a:pPr>
            <a:r>
              <a:rPr lang="en-US" sz="1950" dirty="0">
                <a:solidFill>
                  <a:srgbClr val="8B8F8F"/>
                </a:solidFill>
                <a:latin typeface="Courier New" pitchFamily="34" charset="0"/>
                <a:ea typeface="Courier New" pitchFamily="34" charset="-122"/>
                <a:cs typeface="Courier New" pitchFamily="34" charset="-120"/>
              </a:rPr>
              <a:t>04</a:t>
            </a:r>
            <a:endParaRPr lang="en-US" sz="1950" dirty="0"/>
          </a:p>
        </p:txBody>
      </p:sp>
      <p:sp>
        <p:nvSpPr>
          <p:cNvPr id="19" name="Text 17"/>
          <p:cNvSpPr/>
          <p:nvPr/>
        </p:nvSpPr>
        <p:spPr>
          <a:xfrm>
            <a:off x="10401300" y="8166497"/>
            <a:ext cx="7181469" cy="901005"/>
          </a:xfrm>
          <a:prstGeom prst="rect">
            <a:avLst/>
          </a:prstGeom>
          <a:noFill/>
          <a:ln/>
        </p:spPr>
        <p:txBody>
          <a:bodyPr wrap="square" lIns="25400" tIns="25400" rIns="25400" bIns="25400" rtlCol="0" anchor="t">
            <a:normAutofit/>
          </a:bodyPr>
          <a:lstStyle/>
          <a:p>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The developer walks the findings one at a time — </a:t>
            </a:r>
            <a:pPr algn="l" indent="0" marL="0">
              <a:lnSpc>
                <a:spcPct val="117895"/>
              </a:lnSpc>
              <a:buNone/>
            </a:pPr>
            <a:r>
              <a:rPr lang="en-US" sz="2400" dirty="0">
                <a:solidFill>
                  <a:srgbClr val="0B0C0C"/>
                </a:solidFill>
                <a:highlight>
                  <a:srgbClr val="FFDD00"/>
                </a:highlight>
                <a:latin typeface="Courier New" pitchFamily="34" charset="0"/>
                <a:ea typeface="Courier New" pitchFamily="34" charset="-122"/>
                <a:cs typeface="Courier New" pitchFamily="34" charset="-120"/>
              </a:rPr>
              <a:t>accept, skip, edit, quit</a:t>
            </a:r>
            <a:pPr algn="l" indent="0" marL="0">
              <a:lnSpc>
                <a:spcPct val="117895"/>
              </a:lnSpc>
              <a:buNone/>
            </a:pPr>
            <a:r>
              <a:rPr lang="en-US" sz="2400" dirty="0">
                <a:solidFill>
                  <a:srgbClr val="0B0C0C"/>
                </a:solidFill>
                <a:latin typeface="Helvetica Neue" pitchFamily="34" charset="0"/>
                <a:ea typeface="Helvetica Neue" pitchFamily="34" charset="-122"/>
                <a:cs typeface="Helvetica Neue" pitchFamily="34" charset="-120"/>
              </a:rPr>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1CC33"/>
        </a:solidFill>
      </p:bgPr>
    </p:bg>
    <p:spTree>
      <p:nvGrpSpPr>
        <p:cNvPr id="1" name=""/>
        <p:cNvGrpSpPr/>
        <p:nvPr/>
      </p:nvGrpSpPr>
      <p:grpSpPr>
        <a:xfrm>
          <a:off x="0" y="0"/>
          <a:ext cx="0" cy="0"/>
          <a:chOff x="0" y="0"/>
          <a:chExt cx="0" cy="0"/>
        </a:xfrm>
      </p:grpSpPr>
      <p:sp>
        <p:nvSpPr>
          <p:cNvPr id="2" name="Text 0"/>
          <p:cNvSpPr/>
          <p:nvPr/>
        </p:nvSpPr>
        <p:spPr>
          <a:xfrm>
            <a:off x="914400" y="3580507"/>
            <a:ext cx="7770049"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0B0C0C"/>
                </a:solidFill>
                <a:latin typeface="Courier New" pitchFamily="34" charset="0"/>
                <a:ea typeface="Courier New" pitchFamily="34" charset="-122"/>
                <a:cs typeface="Courier New" pitchFamily="34" charset="-120"/>
              </a:rPr>
              <a:t>~2 MINUTES</a:t>
            </a:r>
            <a:endParaRPr lang="en-US" sz="1800" dirty="0"/>
          </a:p>
        </p:txBody>
      </p:sp>
      <p:sp>
        <p:nvSpPr>
          <p:cNvPr id="3" name="Text 1"/>
          <p:cNvSpPr/>
          <p:nvPr/>
        </p:nvSpPr>
        <p:spPr>
          <a:xfrm>
            <a:off x="914400" y="4190107"/>
            <a:ext cx="7770049" cy="1323975"/>
          </a:xfrm>
          <a:prstGeom prst="rect">
            <a:avLst/>
          </a:prstGeom>
          <a:noFill/>
          <a:ln/>
        </p:spPr>
        <p:txBody>
          <a:bodyPr wrap="square" lIns="25400" tIns="25400" rIns="25400" bIns="25400" rtlCol="0" anchor="t">
            <a:normAutofit/>
          </a:bodyPr>
          <a:lstStyle/>
          <a:p>
            <a:pPr algn="l" indent="0" marL="0">
              <a:lnSpc>
                <a:spcPct val="73770"/>
              </a:lnSpc>
              <a:buNone/>
            </a:pPr>
            <a:r>
              <a:rPr lang="en-US" sz="11250" b="1" spc="-450" kern="0" dirty="0">
                <a:solidFill>
                  <a:srgbClr val="0B0C0C"/>
                </a:solidFill>
                <a:latin typeface="Helvetica Neue" pitchFamily="34" charset="0"/>
                <a:ea typeface="Helvetica Neue" pitchFamily="34" charset="-122"/>
                <a:cs typeface="Helvetica Neue" pitchFamily="34" charset="-120"/>
              </a:rPr>
              <a:t>Demo</a:t>
            </a:r>
            <a:endParaRPr lang="en-US" sz="11250" dirty="0"/>
          </a:p>
        </p:txBody>
      </p:sp>
      <p:sp>
        <p:nvSpPr>
          <p:cNvPr id="4" name="Text 2"/>
          <p:cNvSpPr/>
          <p:nvPr/>
        </p:nvSpPr>
        <p:spPr>
          <a:xfrm>
            <a:off x="914400" y="5780782"/>
            <a:ext cx="4320102" cy="963811"/>
          </a:xfrm>
          <a:prstGeom prst="rect">
            <a:avLst/>
          </a:prstGeom>
          <a:noFill/>
          <a:ln/>
        </p:spPr>
        <p:txBody>
          <a:bodyPr wrap="square" lIns="25400" tIns="25400" rIns="25400" bIns="25400" rtlCol="0" anchor="t">
            <a:normAutofit/>
          </a:bodyPr>
          <a:lstStyle/>
          <a:p>
            <a:pPr algn="l" indent="0" marL="0">
              <a:lnSpc>
                <a:spcPct val="113023"/>
              </a:lnSpc>
              <a:buNone/>
            </a:pPr>
            <a:r>
              <a:rPr lang="en-US" sz="2700" dirty="0">
                <a:solidFill>
                  <a:srgbClr val="0B0C0C"/>
                </a:solidFill>
                <a:latin typeface="Helvetica Neue" pitchFamily="34" charset="0"/>
                <a:ea typeface="Helvetica Neue" pitchFamily="34" charset="-122"/>
                <a:cs typeface="Helvetica Neue" pitchFamily="34" charset="-120"/>
              </a:rPr>
              <a:t>Live run against a deliberately broken spec.</a:t>
            </a:r>
            <a:endParaRPr lang="en-US" sz="2700" dirty="0"/>
          </a:p>
        </p:txBody>
      </p:sp>
      <p:sp>
        <p:nvSpPr>
          <p:cNvPr id="5" name="Shape 3"/>
          <p:cNvSpPr/>
          <p:nvPr/>
        </p:nvSpPr>
        <p:spPr>
          <a:xfrm>
            <a:off x="8740080" y="2821484"/>
            <a:ext cx="8633520" cy="4644033"/>
          </a:xfrm>
          <a:prstGeom prst="roundRect">
            <a:avLst>
              <a:gd name="adj" fmla="val 4922"/>
            </a:avLst>
          </a:prstGeom>
          <a:solidFill>
            <a:srgbClr val="0B0C0C"/>
          </a:solidFill>
          <a:ln/>
        </p:spPr>
      </p:sp>
      <p:sp>
        <p:nvSpPr>
          <p:cNvPr id="6" name="Text 4"/>
          <p:cNvSpPr/>
          <p:nvPr/>
        </p:nvSpPr>
        <p:spPr>
          <a:xfrm>
            <a:off x="9273480" y="3316784"/>
            <a:ext cx="2419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B1CC33"/>
                </a:solidFill>
                <a:latin typeface="Courier New" pitchFamily="34" charset="0"/>
                <a:ea typeface="Courier New" pitchFamily="34" charset="-122"/>
                <a:cs typeface="Courier New" pitchFamily="34" charset="-120"/>
              </a:rPr>
              <a:t>1</a:t>
            </a:r>
            <a:endParaRPr lang="en-US" sz="2175" dirty="0"/>
          </a:p>
        </p:txBody>
      </p:sp>
      <p:sp>
        <p:nvSpPr>
          <p:cNvPr id="7" name="Text 5"/>
          <p:cNvSpPr/>
          <p:nvPr/>
        </p:nvSpPr>
        <p:spPr>
          <a:xfrm>
            <a:off x="9705975" y="3316784"/>
            <a:ext cx="3646170"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Show the broken file</a:t>
            </a:r>
            <a:endParaRPr lang="en-US" sz="2175" dirty="0"/>
          </a:p>
        </p:txBody>
      </p:sp>
      <p:sp>
        <p:nvSpPr>
          <p:cNvPr id="8" name="Text 6"/>
          <p:cNvSpPr/>
          <p:nvPr/>
        </p:nvSpPr>
        <p:spPr>
          <a:xfrm>
            <a:off x="9273480" y="3970139"/>
            <a:ext cx="2419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B1CC33"/>
                </a:solidFill>
                <a:latin typeface="Courier New" pitchFamily="34" charset="0"/>
                <a:ea typeface="Courier New" pitchFamily="34" charset="-122"/>
                <a:cs typeface="Courier New" pitchFamily="34" charset="-120"/>
              </a:rPr>
              <a:t>2</a:t>
            </a:r>
            <a:endParaRPr lang="en-US" sz="2175" dirty="0"/>
          </a:p>
        </p:txBody>
      </p:sp>
      <p:sp>
        <p:nvSpPr>
          <p:cNvPr id="9" name="Text 7"/>
          <p:cNvSpPr/>
          <p:nvPr/>
        </p:nvSpPr>
        <p:spPr>
          <a:xfrm>
            <a:off x="9705975" y="3970139"/>
            <a:ext cx="7292340"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Run the tool — clause quoted, diff shown</a:t>
            </a:r>
            <a:endParaRPr lang="en-US" sz="2175" dirty="0"/>
          </a:p>
        </p:txBody>
      </p:sp>
      <p:sp>
        <p:nvSpPr>
          <p:cNvPr id="10" name="Text 8"/>
          <p:cNvSpPr/>
          <p:nvPr/>
        </p:nvSpPr>
        <p:spPr>
          <a:xfrm>
            <a:off x="9273480" y="4623495"/>
            <a:ext cx="2419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B1CC33"/>
                </a:solidFill>
                <a:latin typeface="Courier New" pitchFamily="34" charset="0"/>
                <a:ea typeface="Courier New" pitchFamily="34" charset="-122"/>
                <a:cs typeface="Courier New" pitchFamily="34" charset="-120"/>
              </a:rPr>
              <a:t>3</a:t>
            </a:r>
            <a:endParaRPr lang="en-US" sz="2175" dirty="0"/>
          </a:p>
        </p:txBody>
      </p:sp>
      <p:sp>
        <p:nvSpPr>
          <p:cNvPr id="11" name="Text 9"/>
          <p:cNvSpPr/>
          <p:nvPr/>
        </p:nvSpPr>
        <p:spPr>
          <a:xfrm>
            <a:off x="9705975" y="4623495"/>
            <a:ext cx="330892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Press </a:t>
            </a:r>
            <a:pPr algn="l" indent="0" marL="0">
              <a:lnSpc>
                <a:spcPct val="123030"/>
              </a:lnSpc>
              <a:buNone/>
            </a:pPr>
            <a:r>
              <a:rPr lang="en-US" sz="2175" dirty="0">
                <a:solidFill>
                  <a:srgbClr val="0B0C0C"/>
                </a:solidFill>
                <a:highlight>
                  <a:srgbClr val="B1CC33"/>
                </a:highlight>
                <a:latin typeface="Courier New" pitchFamily="34" charset="0"/>
                <a:ea typeface="Courier New" pitchFamily="34" charset="-122"/>
                <a:cs typeface="Courier New" pitchFamily="34" charset="-120"/>
              </a:rPr>
              <a:t>y </a:t>
            </a:r>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to accept</a:t>
            </a:r>
            <a:endParaRPr lang="en-US" sz="2175" dirty="0"/>
          </a:p>
        </p:txBody>
      </p:sp>
      <p:sp>
        <p:nvSpPr>
          <p:cNvPr id="12" name="Text 10"/>
          <p:cNvSpPr/>
          <p:nvPr/>
        </p:nvSpPr>
        <p:spPr>
          <a:xfrm>
            <a:off x="9273480" y="5276850"/>
            <a:ext cx="2419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B1CC33"/>
                </a:solidFill>
                <a:latin typeface="Courier New" pitchFamily="34" charset="0"/>
                <a:ea typeface="Courier New" pitchFamily="34" charset="-122"/>
                <a:cs typeface="Courier New" pitchFamily="34" charset="-120"/>
              </a:rPr>
              <a:t>4</a:t>
            </a:r>
            <a:endParaRPr lang="en-US" sz="2175" dirty="0"/>
          </a:p>
        </p:txBody>
      </p:sp>
      <p:sp>
        <p:nvSpPr>
          <p:cNvPr id="13" name="Text 11"/>
          <p:cNvSpPr/>
          <p:nvPr/>
        </p:nvSpPr>
        <p:spPr>
          <a:xfrm>
            <a:off x="9705975" y="5276850"/>
            <a:ext cx="5861343"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Press </a:t>
            </a:r>
            <a:pPr algn="l" indent="0" marL="0">
              <a:lnSpc>
                <a:spcPct val="123030"/>
              </a:lnSpc>
              <a:buNone/>
            </a:pPr>
            <a:r>
              <a:rPr lang="en-US" sz="2175" dirty="0">
                <a:solidFill>
                  <a:srgbClr val="0B0C0C"/>
                </a:solidFill>
                <a:highlight>
                  <a:srgbClr val="F499C6"/>
                </a:highlight>
                <a:latin typeface="Courier New" pitchFamily="34" charset="0"/>
                <a:ea typeface="Courier New" pitchFamily="34" charset="-122"/>
                <a:cs typeface="Courier New" pitchFamily="34" charset="-120"/>
              </a:rPr>
              <a:t>n </a:t>
            </a:r>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to prove you can say no</a:t>
            </a:r>
            <a:endParaRPr lang="en-US" sz="2175" dirty="0"/>
          </a:p>
        </p:txBody>
      </p:sp>
      <p:sp>
        <p:nvSpPr>
          <p:cNvPr id="14" name="Text 12"/>
          <p:cNvSpPr/>
          <p:nvPr/>
        </p:nvSpPr>
        <p:spPr>
          <a:xfrm>
            <a:off x="9273480" y="5930205"/>
            <a:ext cx="2419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B1CC33"/>
                </a:solidFill>
                <a:latin typeface="Courier New" pitchFamily="34" charset="0"/>
                <a:ea typeface="Courier New" pitchFamily="34" charset="-122"/>
                <a:cs typeface="Courier New" pitchFamily="34" charset="-120"/>
              </a:rPr>
              <a:t>5</a:t>
            </a:r>
            <a:endParaRPr lang="en-US" sz="2175" dirty="0"/>
          </a:p>
        </p:txBody>
      </p:sp>
      <p:sp>
        <p:nvSpPr>
          <p:cNvPr id="15" name="Text 13"/>
          <p:cNvSpPr/>
          <p:nvPr/>
        </p:nvSpPr>
        <p:spPr>
          <a:xfrm>
            <a:off x="9705975" y="5930205"/>
            <a:ext cx="5314384"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Press </a:t>
            </a:r>
            <a:pPr algn="l" indent="0" marL="0">
              <a:lnSpc>
                <a:spcPct val="123030"/>
              </a:lnSpc>
              <a:buNone/>
            </a:pPr>
            <a:r>
              <a:rPr lang="en-US" sz="2175" dirty="0">
                <a:solidFill>
                  <a:srgbClr val="0B0C0C"/>
                </a:solidFill>
                <a:highlight>
                  <a:srgbClr val="FFDD00"/>
                </a:highlight>
                <a:latin typeface="Courier New" pitchFamily="34" charset="0"/>
                <a:ea typeface="Courier New" pitchFamily="34" charset="-122"/>
                <a:cs typeface="Courier New" pitchFamily="34" charset="-120"/>
              </a:rPr>
              <a:t>e </a:t>
            </a:r>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to edit a suggestion</a:t>
            </a:r>
            <a:endParaRPr lang="en-US" sz="2175" dirty="0"/>
          </a:p>
        </p:txBody>
      </p:sp>
      <p:sp>
        <p:nvSpPr>
          <p:cNvPr id="16" name="Text 14"/>
          <p:cNvSpPr/>
          <p:nvPr/>
        </p:nvSpPr>
        <p:spPr>
          <a:xfrm>
            <a:off x="9273480" y="6583561"/>
            <a:ext cx="2419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B1CC33"/>
                </a:solidFill>
                <a:latin typeface="Courier New" pitchFamily="34" charset="0"/>
                <a:ea typeface="Courier New" pitchFamily="34" charset="-122"/>
                <a:cs typeface="Courier New" pitchFamily="34" charset="-120"/>
              </a:rPr>
              <a:t>6</a:t>
            </a:r>
            <a:endParaRPr lang="en-US" sz="2175" dirty="0"/>
          </a:p>
        </p:txBody>
      </p:sp>
      <p:sp>
        <p:nvSpPr>
          <p:cNvPr id="17" name="Text 15"/>
          <p:cNvSpPr/>
          <p:nvPr/>
        </p:nvSpPr>
        <p:spPr>
          <a:xfrm>
            <a:off x="9705975" y="6583561"/>
            <a:ext cx="4193128"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2F4F4"/>
                </a:solidFill>
                <a:latin typeface="Courier New" pitchFamily="34" charset="0"/>
                <a:ea typeface="Courier New" pitchFamily="34" charset="-122"/>
                <a:cs typeface="Courier New" pitchFamily="34" charset="-120"/>
              </a:rPr>
              <a:t>End on the cost summary</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914400"/>
            <a:ext cx="7514496" cy="800100"/>
          </a:xfrm>
          <a:prstGeom prst="rect">
            <a:avLst/>
          </a:prstGeom>
          <a:noFill/>
          <a:ln/>
        </p:spPr>
        <p:txBody>
          <a:bodyPr wrap="square" lIns="25400" tIns="25400" rIns="25400" bIns="25400" rtlCol="0" anchor="t">
            <a:normAutofit/>
          </a:bodyPr>
          <a:lstStyle/>
          <a:p>
            <a:pPr algn="l" indent="0" marL="0">
              <a:lnSpc>
                <a:spcPct val="82474"/>
              </a:lnSpc>
              <a:buNone/>
            </a:pPr>
            <a:r>
              <a:rPr lang="en-US" sz="6000" b="1" spc="-150" kern="0" dirty="0">
                <a:solidFill>
                  <a:srgbClr val="0B0C0C"/>
                </a:solidFill>
                <a:latin typeface="Helvetica Neue" pitchFamily="34" charset="0"/>
                <a:ea typeface="Helvetica Neue" pitchFamily="34" charset="-122"/>
                <a:cs typeface="Helvetica Neue" pitchFamily="34" charset="-120"/>
              </a:rPr>
              <a:t>Why you can trust it</a:t>
            </a:r>
            <a:endParaRPr lang="en-US" sz="6000" dirty="0"/>
          </a:p>
        </p:txBody>
      </p:sp>
      <p:sp>
        <p:nvSpPr>
          <p:cNvPr id="3" name="Text 1"/>
          <p:cNvSpPr/>
          <p:nvPr/>
        </p:nvSpPr>
        <p:spPr>
          <a:xfrm>
            <a:off x="14740086" y="1343025"/>
            <a:ext cx="2896865"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4A4E4E"/>
                </a:solidFill>
                <a:latin typeface="Courier New" pitchFamily="34" charset="0"/>
                <a:ea typeface="Courier New" pitchFamily="34" charset="-122"/>
                <a:cs typeface="Courier New" pitchFamily="34" charset="-120"/>
              </a:rPr>
              <a:t>THREE GUARANTEES</a:t>
            </a:r>
            <a:endParaRPr lang="en-US" sz="1800" dirty="0"/>
          </a:p>
        </p:txBody>
      </p:sp>
      <p:sp>
        <p:nvSpPr>
          <p:cNvPr id="4" name="Shape 2"/>
          <p:cNvSpPr/>
          <p:nvPr/>
        </p:nvSpPr>
        <p:spPr>
          <a:xfrm>
            <a:off x="914400" y="2209800"/>
            <a:ext cx="5232350" cy="7162800"/>
          </a:xfrm>
          <a:prstGeom prst="roundRect">
            <a:avLst>
              <a:gd name="adj" fmla="val 4369"/>
            </a:avLst>
          </a:prstGeom>
          <a:solidFill>
            <a:srgbClr val="F7F8F8"/>
          </a:solidFill>
          <a:ln/>
        </p:spPr>
      </p:sp>
      <p:sp>
        <p:nvSpPr>
          <p:cNvPr id="5" name="Shape 3"/>
          <p:cNvSpPr/>
          <p:nvPr/>
        </p:nvSpPr>
        <p:spPr>
          <a:xfrm>
            <a:off x="914400" y="2209800"/>
            <a:ext cx="5232350" cy="152400"/>
          </a:xfrm>
          <a:prstGeom prst="rect">
            <a:avLst/>
          </a:prstGeom>
          <a:solidFill>
            <a:srgbClr val="B1CC33"/>
          </a:solidFill>
          <a:ln/>
        </p:spPr>
      </p:sp>
      <p:sp>
        <p:nvSpPr>
          <p:cNvPr id="6" name="Text 4"/>
          <p:cNvSpPr/>
          <p:nvPr/>
        </p:nvSpPr>
        <p:spPr>
          <a:xfrm>
            <a:off x="1371600" y="2819400"/>
            <a:ext cx="4749745" cy="498128"/>
          </a:xfrm>
          <a:prstGeom prst="rect">
            <a:avLst/>
          </a:prstGeom>
          <a:noFill/>
          <a:ln/>
        </p:spPr>
        <p:txBody>
          <a:bodyPr wrap="square" lIns="25400" tIns="25400" rIns="25400" bIns="25400" rtlCol="0" anchor="t">
            <a:normAutofit/>
          </a:bodyPr>
          <a:lstStyle/>
          <a:p>
            <a:pPr algn="l" indent="0" marL="0">
              <a:lnSpc>
                <a:spcPct val="86250"/>
              </a:lnSpc>
              <a:buNone/>
            </a:pPr>
            <a:r>
              <a:rPr lang="en-US" sz="3450" b="1" dirty="0">
                <a:solidFill>
                  <a:srgbClr val="0B0C0C"/>
                </a:solidFill>
                <a:latin typeface="Helvetica Neue" pitchFamily="34" charset="0"/>
                <a:ea typeface="Helvetica Neue" pitchFamily="34" charset="-122"/>
                <a:cs typeface="Helvetica Neue" pitchFamily="34" charset="-120"/>
              </a:rPr>
              <a:t>Always cited</a:t>
            </a:r>
            <a:endParaRPr lang="en-US" sz="3450" dirty="0"/>
          </a:p>
        </p:txBody>
      </p:sp>
      <p:sp>
        <p:nvSpPr>
          <p:cNvPr id="7" name="Text 5"/>
          <p:cNvSpPr/>
          <p:nvPr/>
        </p:nvSpPr>
        <p:spPr>
          <a:xfrm>
            <a:off x="1371600" y="3546128"/>
            <a:ext cx="4447489" cy="2247454"/>
          </a:xfrm>
          <a:prstGeom prst="rect">
            <a:avLst/>
          </a:prstGeom>
          <a:noFill/>
          <a:ln/>
        </p:spPr>
        <p:txBody>
          <a:bodyPr wrap="square" lIns="25400" tIns="25400" rIns="25400" bIns="25400" rtlCol="0" anchor="t">
            <a:normAutofit/>
          </a:bodyPr>
          <a:lstStyle/>
          <a:p>
            <a:pPr algn="l" indent="0" marL="0">
              <a:lnSpc>
                <a:spcPct val="122105"/>
              </a:lnSpc>
              <a:buNone/>
            </a:pPr>
            <a:r>
              <a:rPr lang="en-US" sz="2400" dirty="0">
                <a:solidFill>
                  <a:srgbClr val="0B0C0C"/>
                </a:solidFill>
                <a:latin typeface="Helvetica Neue" pitchFamily="34" charset="0"/>
                <a:ea typeface="Helvetica Neue" pitchFamily="34" charset="-122"/>
                <a:cs typeface="Helvetica Neue" pitchFamily="34" charset="-120"/>
              </a:rPr>
              <a:t>Every AI suggestion cites the specific GDS or NCSC clause it's based on. A suggestion without a citation is a bug in the tool.</a:t>
            </a:r>
            <a:endParaRPr lang="en-US" sz="2400" dirty="0"/>
          </a:p>
        </p:txBody>
      </p:sp>
      <p:sp>
        <p:nvSpPr>
          <p:cNvPr id="8" name="Shape 6"/>
          <p:cNvSpPr/>
          <p:nvPr/>
        </p:nvSpPr>
        <p:spPr>
          <a:xfrm>
            <a:off x="1371600" y="8324850"/>
            <a:ext cx="4317950" cy="19050"/>
          </a:xfrm>
          <a:prstGeom prst="rect">
            <a:avLst/>
          </a:prstGeom>
          <a:solidFill>
            <a:srgbClr val="D9DCDC"/>
          </a:solidFill>
          <a:ln/>
        </p:spPr>
      </p:sp>
      <p:sp>
        <p:nvSpPr>
          <p:cNvPr id="9" name="Text 7"/>
          <p:cNvSpPr/>
          <p:nvPr/>
        </p:nvSpPr>
        <p:spPr>
          <a:xfrm>
            <a:off x="1371600" y="8610600"/>
            <a:ext cx="4447489" cy="3429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4A4E4E"/>
                </a:solidFill>
                <a:latin typeface="Courier New" pitchFamily="34" charset="0"/>
                <a:ea typeface="Courier New" pitchFamily="34" charset="-122"/>
                <a:cs typeface="Courier New" pitchFamily="34" charset="-120"/>
              </a:rPr>
              <a:t>No citation → bug report</a:t>
            </a:r>
            <a:endParaRPr lang="en-US" sz="1800" dirty="0"/>
          </a:p>
        </p:txBody>
      </p:sp>
      <p:sp>
        <p:nvSpPr>
          <p:cNvPr id="10" name="Shape 8"/>
          <p:cNvSpPr/>
          <p:nvPr/>
        </p:nvSpPr>
        <p:spPr>
          <a:xfrm>
            <a:off x="6527750" y="2209800"/>
            <a:ext cx="5232350" cy="7162800"/>
          </a:xfrm>
          <a:prstGeom prst="roundRect">
            <a:avLst>
              <a:gd name="adj" fmla="val 4369"/>
            </a:avLst>
          </a:prstGeom>
          <a:solidFill>
            <a:srgbClr val="F7F8F8"/>
          </a:solidFill>
          <a:ln/>
        </p:spPr>
      </p:sp>
      <p:sp>
        <p:nvSpPr>
          <p:cNvPr id="11" name="Shape 9"/>
          <p:cNvSpPr/>
          <p:nvPr/>
        </p:nvSpPr>
        <p:spPr>
          <a:xfrm>
            <a:off x="6527750" y="2209800"/>
            <a:ext cx="5232350" cy="152400"/>
          </a:xfrm>
          <a:prstGeom prst="rect">
            <a:avLst/>
          </a:prstGeom>
          <a:solidFill>
            <a:srgbClr val="FFDD00"/>
          </a:solidFill>
          <a:ln/>
        </p:spPr>
      </p:sp>
      <p:sp>
        <p:nvSpPr>
          <p:cNvPr id="12" name="Text 10"/>
          <p:cNvSpPr/>
          <p:nvPr/>
        </p:nvSpPr>
        <p:spPr>
          <a:xfrm>
            <a:off x="6984950" y="2819400"/>
            <a:ext cx="4749745" cy="498128"/>
          </a:xfrm>
          <a:prstGeom prst="rect">
            <a:avLst/>
          </a:prstGeom>
          <a:noFill/>
          <a:ln/>
        </p:spPr>
        <p:txBody>
          <a:bodyPr wrap="square" lIns="25400" tIns="25400" rIns="25400" bIns="25400" rtlCol="0" anchor="t">
            <a:normAutofit/>
          </a:bodyPr>
          <a:lstStyle/>
          <a:p>
            <a:pPr algn="l" indent="0" marL="0">
              <a:lnSpc>
                <a:spcPct val="86250"/>
              </a:lnSpc>
              <a:buNone/>
            </a:pPr>
            <a:r>
              <a:rPr lang="en-US" sz="3450" b="1" dirty="0">
                <a:solidFill>
                  <a:srgbClr val="0B0C0C"/>
                </a:solidFill>
                <a:latin typeface="Helvetica Neue" pitchFamily="34" charset="0"/>
                <a:ea typeface="Helvetica Neue" pitchFamily="34" charset="-122"/>
                <a:cs typeface="Helvetica Neue" pitchFamily="34" charset="-120"/>
              </a:rPr>
              <a:t>Pre-validated</a:t>
            </a:r>
            <a:endParaRPr lang="en-US" sz="3450" dirty="0"/>
          </a:p>
        </p:txBody>
      </p:sp>
      <p:sp>
        <p:nvSpPr>
          <p:cNvPr id="13" name="Text 11"/>
          <p:cNvSpPr/>
          <p:nvPr/>
        </p:nvSpPr>
        <p:spPr>
          <a:xfrm>
            <a:off x="6984950" y="3546128"/>
            <a:ext cx="4447489" cy="2247454"/>
          </a:xfrm>
          <a:prstGeom prst="rect">
            <a:avLst/>
          </a:prstGeom>
          <a:noFill/>
          <a:ln/>
        </p:spPr>
        <p:txBody>
          <a:bodyPr wrap="square" lIns="25400" tIns="25400" rIns="25400" bIns="25400" rtlCol="0" anchor="t">
            <a:normAutofit/>
          </a:bodyPr>
          <a:lstStyle/>
          <a:p>
            <a:pPr algn="l" indent="0" marL="0">
              <a:lnSpc>
                <a:spcPct val="122105"/>
              </a:lnSpc>
              <a:buNone/>
            </a:pPr>
            <a:r>
              <a:rPr lang="en-US" sz="2400" dirty="0">
                <a:solidFill>
                  <a:srgbClr val="0B0C0C"/>
                </a:solidFill>
                <a:latin typeface="Helvetica Neue" pitchFamily="34" charset="0"/>
                <a:ea typeface="Helvetica Neue" pitchFamily="34" charset="-122"/>
                <a:cs typeface="Helvetica Neue" pitchFamily="34" charset="-120"/>
              </a:rPr>
              <a:t>Before you see a patch, we've applied it to a copy and re-validated. Anything that would break the spec is dropped and never rendered.</a:t>
            </a:r>
            <a:endParaRPr lang="en-US" sz="2400" dirty="0"/>
          </a:p>
        </p:txBody>
      </p:sp>
      <p:sp>
        <p:nvSpPr>
          <p:cNvPr id="14" name="Shape 12"/>
          <p:cNvSpPr/>
          <p:nvPr/>
        </p:nvSpPr>
        <p:spPr>
          <a:xfrm>
            <a:off x="6984950" y="8324850"/>
            <a:ext cx="4317950" cy="19050"/>
          </a:xfrm>
          <a:prstGeom prst="rect">
            <a:avLst/>
          </a:prstGeom>
          <a:solidFill>
            <a:srgbClr val="D9DCDC"/>
          </a:solidFill>
          <a:ln/>
        </p:spPr>
      </p:sp>
      <p:sp>
        <p:nvSpPr>
          <p:cNvPr id="15" name="Text 13"/>
          <p:cNvSpPr/>
          <p:nvPr/>
        </p:nvSpPr>
        <p:spPr>
          <a:xfrm>
            <a:off x="6984950" y="8610600"/>
            <a:ext cx="4447489" cy="3429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4A4E4E"/>
                </a:solidFill>
                <a:latin typeface="Courier New" pitchFamily="34" charset="0"/>
                <a:ea typeface="Courier New" pitchFamily="34" charset="-122"/>
                <a:cs typeface="Courier New" pitchFamily="34" charset="-120"/>
              </a:rPr>
              <a:t>Broken patches never shown</a:t>
            </a:r>
            <a:endParaRPr lang="en-US" sz="1800" dirty="0"/>
          </a:p>
        </p:txBody>
      </p:sp>
      <p:sp>
        <p:nvSpPr>
          <p:cNvPr id="16" name="Shape 14"/>
          <p:cNvSpPr/>
          <p:nvPr/>
        </p:nvSpPr>
        <p:spPr>
          <a:xfrm>
            <a:off x="12141101" y="2209800"/>
            <a:ext cx="5232350" cy="7162800"/>
          </a:xfrm>
          <a:prstGeom prst="roundRect">
            <a:avLst>
              <a:gd name="adj" fmla="val 4369"/>
            </a:avLst>
          </a:prstGeom>
          <a:solidFill>
            <a:srgbClr val="F7F8F8"/>
          </a:solidFill>
          <a:ln/>
        </p:spPr>
      </p:sp>
      <p:sp>
        <p:nvSpPr>
          <p:cNvPr id="17" name="Shape 15"/>
          <p:cNvSpPr/>
          <p:nvPr/>
        </p:nvSpPr>
        <p:spPr>
          <a:xfrm>
            <a:off x="12141101" y="2209800"/>
            <a:ext cx="5232350" cy="152400"/>
          </a:xfrm>
          <a:prstGeom prst="rect">
            <a:avLst/>
          </a:prstGeom>
          <a:solidFill>
            <a:srgbClr val="F499C6"/>
          </a:solidFill>
          <a:ln/>
        </p:spPr>
      </p:sp>
      <p:sp>
        <p:nvSpPr>
          <p:cNvPr id="18" name="Text 16"/>
          <p:cNvSpPr/>
          <p:nvPr/>
        </p:nvSpPr>
        <p:spPr>
          <a:xfrm>
            <a:off x="12598301" y="2819400"/>
            <a:ext cx="4749745" cy="498128"/>
          </a:xfrm>
          <a:prstGeom prst="rect">
            <a:avLst/>
          </a:prstGeom>
          <a:noFill/>
          <a:ln/>
        </p:spPr>
        <p:txBody>
          <a:bodyPr wrap="square" lIns="25400" tIns="25400" rIns="25400" bIns="25400" rtlCol="0" anchor="t">
            <a:normAutofit/>
          </a:bodyPr>
          <a:lstStyle/>
          <a:p>
            <a:pPr algn="l" indent="0" marL="0">
              <a:lnSpc>
                <a:spcPct val="86250"/>
              </a:lnSpc>
              <a:buNone/>
            </a:pPr>
            <a:r>
              <a:rPr lang="en-US" sz="3450" b="1" dirty="0">
                <a:solidFill>
                  <a:srgbClr val="0B0C0C"/>
                </a:solidFill>
                <a:latin typeface="Helvetica Neue" pitchFamily="34" charset="0"/>
                <a:ea typeface="Helvetica Neue" pitchFamily="34" charset="-122"/>
                <a:cs typeface="Helvetica Neue" pitchFamily="34" charset="-120"/>
              </a:rPr>
              <a:t>Never automatic</a:t>
            </a:r>
            <a:endParaRPr lang="en-US" sz="3450" dirty="0"/>
          </a:p>
        </p:txBody>
      </p:sp>
      <p:sp>
        <p:nvSpPr>
          <p:cNvPr id="19" name="Text 17"/>
          <p:cNvSpPr/>
          <p:nvPr/>
        </p:nvSpPr>
        <p:spPr>
          <a:xfrm>
            <a:off x="12598301" y="3546128"/>
            <a:ext cx="4447489" cy="1834158"/>
          </a:xfrm>
          <a:prstGeom prst="rect">
            <a:avLst/>
          </a:prstGeom>
          <a:noFill/>
          <a:ln/>
        </p:spPr>
        <p:txBody>
          <a:bodyPr wrap="square" lIns="25400" tIns="25400" rIns="25400" bIns="25400" rtlCol="0" anchor="t">
            <a:normAutofit/>
          </a:bodyPr>
          <a:lstStyle/>
          <a:p>
            <a:pPr algn="l" indent="0" marL="0">
              <a:lnSpc>
                <a:spcPct val="122105"/>
              </a:lnSpc>
              <a:buNone/>
            </a:pPr>
            <a:r>
              <a:rPr lang="en-US" sz="2400" dirty="0">
                <a:solidFill>
                  <a:srgbClr val="0B0C0C"/>
                </a:solidFill>
                <a:latin typeface="Helvetica Neue" pitchFamily="34" charset="0"/>
                <a:ea typeface="Helvetica Neue" pitchFamily="34" charset="-122"/>
                <a:cs typeface="Helvetica Neue" pitchFamily="34" charset="-120"/>
              </a:rPr>
              <a:t>No file changes without a </a:t>
            </a:r>
            <a:pPr algn="l" indent="0" marL="0">
              <a:lnSpc>
                <a:spcPct val="122105"/>
              </a:lnSpc>
              <a:buNone/>
            </a:pPr>
            <a:r>
              <a:rPr lang="en-US" sz="2400" b="1" dirty="0">
                <a:solidFill>
                  <a:srgbClr val="0B0C0C"/>
                </a:solidFill>
                <a:latin typeface="Courier New" pitchFamily="34" charset="0"/>
                <a:ea typeface="Courier New" pitchFamily="34" charset="-122"/>
                <a:cs typeface="Courier New" pitchFamily="34" charset="-120"/>
              </a:rPr>
              <a:t>y </a:t>
            </a:r>
            <a:pPr algn="l" indent="0" marL="0">
              <a:lnSpc>
                <a:spcPct val="122105"/>
              </a:lnSpc>
              <a:buNone/>
            </a:pPr>
            <a:r>
              <a:rPr lang="en-US" sz="2400" dirty="0">
                <a:solidFill>
                  <a:srgbClr val="0B0C0C"/>
                </a:solidFill>
                <a:latin typeface="Helvetica Neue" pitchFamily="34" charset="0"/>
                <a:ea typeface="Helvetica Neue" pitchFamily="34" charset="-122"/>
                <a:cs typeface="Helvetica Neue" pitchFamily="34" charset="-120"/>
              </a:rPr>
              <a:t>. There is no auto-apply mode — a deliberate constraint, not a gap.</a:t>
            </a:r>
            <a:endParaRPr lang="en-US" sz="2400" dirty="0"/>
          </a:p>
        </p:txBody>
      </p:sp>
      <p:sp>
        <p:nvSpPr>
          <p:cNvPr id="20" name="Shape 18"/>
          <p:cNvSpPr/>
          <p:nvPr/>
        </p:nvSpPr>
        <p:spPr>
          <a:xfrm>
            <a:off x="12598301" y="8324850"/>
            <a:ext cx="4317950" cy="19050"/>
          </a:xfrm>
          <a:prstGeom prst="rect">
            <a:avLst/>
          </a:prstGeom>
          <a:solidFill>
            <a:srgbClr val="D9DCDC"/>
          </a:solidFill>
          <a:ln/>
        </p:spPr>
      </p:sp>
      <p:sp>
        <p:nvSpPr>
          <p:cNvPr id="21" name="Text 19"/>
          <p:cNvSpPr/>
          <p:nvPr/>
        </p:nvSpPr>
        <p:spPr>
          <a:xfrm>
            <a:off x="12598301" y="8610600"/>
            <a:ext cx="4447489" cy="3429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4A4E4E"/>
                </a:solidFill>
                <a:latin typeface="Courier New" pitchFamily="34" charset="0"/>
                <a:ea typeface="Courier New" pitchFamily="34" charset="-122"/>
                <a:cs typeface="Courier New" pitchFamily="34" charset="-120"/>
              </a:rPr>
              <a:t>One keypress per change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4400" y="933450"/>
            <a:ext cx="266700" cy="266700"/>
          </a:xfrm>
          <a:prstGeom prst="roundRect">
            <a:avLst>
              <a:gd name="adj" fmla="val 28571"/>
            </a:avLst>
          </a:prstGeom>
          <a:solidFill>
            <a:srgbClr val="FFDD00"/>
          </a:solidFill>
          <a:ln/>
        </p:spPr>
      </p:sp>
      <p:sp>
        <p:nvSpPr>
          <p:cNvPr id="3" name="Text 1"/>
          <p:cNvSpPr/>
          <p:nvPr/>
        </p:nvSpPr>
        <p:spPr>
          <a:xfrm>
            <a:off x="1409700" y="914400"/>
            <a:ext cx="2715801"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4A4E4E"/>
                </a:solidFill>
                <a:latin typeface="Courier New" pitchFamily="34" charset="0"/>
                <a:ea typeface="Courier New" pitchFamily="34" charset="-122"/>
                <a:cs typeface="Courier New" pitchFamily="34" charset="-120"/>
              </a:rPr>
              <a:t>WHAT IT CHANGES</a:t>
            </a:r>
            <a:endParaRPr lang="en-US" sz="1800" dirty="0"/>
          </a:p>
        </p:txBody>
      </p:sp>
      <p:sp>
        <p:nvSpPr>
          <p:cNvPr id="4" name="Shape 2"/>
          <p:cNvSpPr/>
          <p:nvPr/>
        </p:nvSpPr>
        <p:spPr>
          <a:xfrm>
            <a:off x="914400" y="1676400"/>
            <a:ext cx="7848600" cy="38100"/>
          </a:xfrm>
          <a:prstGeom prst="rect">
            <a:avLst/>
          </a:prstGeom>
          <a:solidFill>
            <a:srgbClr val="0B0C0C"/>
          </a:solidFill>
          <a:ln/>
        </p:spPr>
      </p:sp>
      <p:sp>
        <p:nvSpPr>
          <p:cNvPr id="5" name="Text 3"/>
          <p:cNvSpPr/>
          <p:nvPr/>
        </p:nvSpPr>
        <p:spPr>
          <a:xfrm>
            <a:off x="914400" y="1943100"/>
            <a:ext cx="863346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0B0C0C"/>
                </a:solidFill>
                <a:latin typeface="Helvetica Neue" pitchFamily="34" charset="0"/>
                <a:ea typeface="Helvetica Neue" pitchFamily="34" charset="-122"/>
                <a:cs typeface="Helvetica Neue" pitchFamily="34" charset="-120"/>
              </a:rPr>
              <a:t>Cheapest place to fix</a:t>
            </a:r>
            <a:endParaRPr lang="en-US" sz="2700" dirty="0"/>
          </a:p>
        </p:txBody>
      </p:sp>
      <p:sp>
        <p:nvSpPr>
          <p:cNvPr id="6" name="Text 4"/>
          <p:cNvSpPr/>
          <p:nvPr/>
        </p:nvSpPr>
        <p:spPr>
          <a:xfrm>
            <a:off x="914400" y="2495550"/>
            <a:ext cx="8084058"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3D4141"/>
                </a:solidFill>
                <a:latin typeface="Helvetica Neue" pitchFamily="34" charset="0"/>
                <a:ea typeface="Helvetica Neue" pitchFamily="34" charset="-122"/>
                <a:cs typeface="Helvetica Neue" pitchFamily="34" charset="-120"/>
              </a:rPr>
              <a:t>Compliance moves from a code-review problem to a before-you-commit problem.</a:t>
            </a:r>
            <a:endParaRPr lang="en-US" sz="2175" dirty="0"/>
          </a:p>
        </p:txBody>
      </p:sp>
      <p:sp>
        <p:nvSpPr>
          <p:cNvPr id="7" name="Shape 5"/>
          <p:cNvSpPr/>
          <p:nvPr/>
        </p:nvSpPr>
        <p:spPr>
          <a:xfrm>
            <a:off x="9525000" y="1676400"/>
            <a:ext cx="7848600" cy="38100"/>
          </a:xfrm>
          <a:prstGeom prst="rect">
            <a:avLst/>
          </a:prstGeom>
          <a:solidFill>
            <a:srgbClr val="0B0C0C"/>
          </a:solidFill>
          <a:ln/>
        </p:spPr>
      </p:sp>
      <p:sp>
        <p:nvSpPr>
          <p:cNvPr id="8" name="Text 6"/>
          <p:cNvSpPr/>
          <p:nvPr/>
        </p:nvSpPr>
        <p:spPr>
          <a:xfrm>
            <a:off x="9525000" y="1943100"/>
            <a:ext cx="863346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0B0C0C"/>
                </a:solidFill>
                <a:latin typeface="Helvetica Neue" pitchFamily="34" charset="0"/>
                <a:ea typeface="Helvetica Neue" pitchFamily="34" charset="-122"/>
                <a:cs typeface="Helvetica Neue" pitchFamily="34" charset="-120"/>
              </a:rPr>
              <a:t>One interpretation</a:t>
            </a:r>
            <a:endParaRPr lang="en-US" sz="2700" dirty="0"/>
          </a:p>
        </p:txBody>
      </p:sp>
      <p:sp>
        <p:nvSpPr>
          <p:cNvPr id="9" name="Text 7"/>
          <p:cNvSpPr/>
          <p:nvPr/>
        </p:nvSpPr>
        <p:spPr>
          <a:xfrm>
            <a:off x="9525000" y="2495550"/>
            <a:ext cx="8084058"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3D4141"/>
                </a:solidFill>
                <a:latin typeface="Helvetica Neue" pitchFamily="34" charset="0"/>
                <a:ea typeface="Helvetica Neue" pitchFamily="34" charset="-122"/>
                <a:cs typeface="Helvetica Neue" pitchFamily="34" charset="-120"/>
              </a:rPr>
              <a:t>A single shared clause map means teams stop diverging on interpretation.</a:t>
            </a:r>
            <a:endParaRPr lang="en-US" sz="2175" dirty="0"/>
          </a:p>
        </p:txBody>
      </p:sp>
      <p:sp>
        <p:nvSpPr>
          <p:cNvPr id="10" name="Shape 8"/>
          <p:cNvSpPr/>
          <p:nvPr/>
        </p:nvSpPr>
        <p:spPr>
          <a:xfrm>
            <a:off x="914400" y="3687961"/>
            <a:ext cx="7848600" cy="38100"/>
          </a:xfrm>
          <a:prstGeom prst="rect">
            <a:avLst/>
          </a:prstGeom>
          <a:solidFill>
            <a:srgbClr val="0B0C0C"/>
          </a:solidFill>
          <a:ln/>
        </p:spPr>
      </p:sp>
      <p:sp>
        <p:nvSpPr>
          <p:cNvPr id="11" name="Text 9"/>
          <p:cNvSpPr/>
          <p:nvPr/>
        </p:nvSpPr>
        <p:spPr>
          <a:xfrm>
            <a:off x="914400" y="3954661"/>
            <a:ext cx="863346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0B0C0C"/>
                </a:solidFill>
                <a:latin typeface="Helvetica Neue" pitchFamily="34" charset="0"/>
                <a:ea typeface="Helvetica Neue" pitchFamily="34" charset="-122"/>
                <a:cs typeface="Helvetica Neue" pitchFamily="34" charset="-120"/>
              </a:rPr>
              <a:t>Coaching, inline</a:t>
            </a:r>
            <a:endParaRPr lang="en-US" sz="2700" dirty="0"/>
          </a:p>
        </p:txBody>
      </p:sp>
      <p:sp>
        <p:nvSpPr>
          <p:cNvPr id="12" name="Text 10"/>
          <p:cNvSpPr/>
          <p:nvPr/>
        </p:nvSpPr>
        <p:spPr>
          <a:xfrm>
            <a:off x="914400" y="4507111"/>
            <a:ext cx="8084058"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3D4141"/>
                </a:solidFill>
                <a:latin typeface="Helvetica Neue" pitchFamily="34" charset="0"/>
                <a:ea typeface="Helvetica Neue" pitchFamily="34" charset="-122"/>
                <a:cs typeface="Helvetica Neue" pitchFamily="34" charset="-120"/>
              </a:rPr>
              <a:t>Juniors get the clause and the fix as they work, not red-pen feedback in review.</a:t>
            </a:r>
            <a:endParaRPr lang="en-US" sz="2175" dirty="0"/>
          </a:p>
        </p:txBody>
      </p:sp>
      <p:sp>
        <p:nvSpPr>
          <p:cNvPr id="13" name="Shape 11"/>
          <p:cNvSpPr/>
          <p:nvPr/>
        </p:nvSpPr>
        <p:spPr>
          <a:xfrm>
            <a:off x="9525000" y="3687961"/>
            <a:ext cx="7848600" cy="38100"/>
          </a:xfrm>
          <a:prstGeom prst="rect">
            <a:avLst/>
          </a:prstGeom>
          <a:solidFill>
            <a:srgbClr val="0B0C0C"/>
          </a:solidFill>
          <a:ln/>
        </p:spPr>
      </p:sp>
      <p:sp>
        <p:nvSpPr>
          <p:cNvPr id="14" name="Text 12"/>
          <p:cNvSpPr/>
          <p:nvPr/>
        </p:nvSpPr>
        <p:spPr>
          <a:xfrm>
            <a:off x="9525000" y="3954661"/>
            <a:ext cx="8633460" cy="457200"/>
          </a:xfrm>
          <a:prstGeom prst="rect">
            <a:avLst/>
          </a:prstGeom>
          <a:noFill/>
          <a:ln/>
        </p:spPr>
        <p:txBody>
          <a:bodyPr wrap="square" lIns="25400" tIns="25400" rIns="25400" bIns="25400" rtlCol="0" anchor="t">
            <a:normAutofit/>
          </a:bodyPr>
          <a:lstStyle/>
          <a:p>
            <a:pPr algn="l" indent="0" marL="0">
              <a:buNone/>
            </a:pPr>
            <a:r>
              <a:rPr lang="en-US" sz="2700" b="1" dirty="0">
                <a:solidFill>
                  <a:srgbClr val="0B0C0C"/>
                </a:solidFill>
                <a:latin typeface="Helvetica Neue" pitchFamily="34" charset="0"/>
                <a:ea typeface="Helvetica Neue" pitchFamily="34" charset="-122"/>
                <a:cs typeface="Helvetica Neue" pitchFamily="34" charset="-120"/>
              </a:rPr>
              <a:t>Answerable</a:t>
            </a:r>
            <a:endParaRPr lang="en-US" sz="2700" dirty="0"/>
          </a:p>
        </p:txBody>
      </p:sp>
      <p:sp>
        <p:nvSpPr>
          <p:cNvPr id="15" name="Text 13"/>
          <p:cNvSpPr/>
          <p:nvPr/>
        </p:nvSpPr>
        <p:spPr>
          <a:xfrm>
            <a:off x="9525000" y="4507111"/>
            <a:ext cx="8084058" cy="811411"/>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3D4141"/>
                </a:solidFill>
                <a:latin typeface="Helvetica Neue" pitchFamily="34" charset="0"/>
                <a:ea typeface="Helvetica Neue" pitchFamily="34" charset="-122"/>
                <a:cs typeface="Helvetica Neue" pitchFamily="34" charset="-120"/>
              </a:rPr>
              <a:t>Every run emits telemetry, so "did the check actually run" has a real answer.</a:t>
            </a:r>
            <a:endParaRPr lang="en-US" sz="2175" dirty="0"/>
          </a:p>
        </p:txBody>
      </p:sp>
      <p:sp>
        <p:nvSpPr>
          <p:cNvPr id="16" name="Shape 14"/>
          <p:cNvSpPr/>
          <p:nvPr/>
        </p:nvSpPr>
        <p:spPr>
          <a:xfrm>
            <a:off x="914400" y="6424613"/>
            <a:ext cx="16459200" cy="2947988"/>
          </a:xfrm>
          <a:prstGeom prst="roundRect">
            <a:avLst>
              <a:gd name="adj" fmla="val 7754"/>
            </a:avLst>
          </a:prstGeom>
          <a:solidFill>
            <a:srgbClr val="F499C6"/>
          </a:solidFill>
          <a:ln/>
        </p:spPr>
      </p:sp>
      <p:sp>
        <p:nvSpPr>
          <p:cNvPr id="17" name="Text 15"/>
          <p:cNvSpPr/>
          <p:nvPr/>
        </p:nvSpPr>
        <p:spPr>
          <a:xfrm>
            <a:off x="1485900" y="6919913"/>
            <a:ext cx="16847820"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0B0C0C"/>
                </a:solidFill>
                <a:latin typeface="Courier New" pitchFamily="34" charset="0"/>
                <a:ea typeface="Courier New" pitchFamily="34" charset="-122"/>
                <a:cs typeface="Courier New" pitchFamily="34" charset="-120"/>
              </a:rPr>
              <a:t>NOT THE ORIGINAL PITCH</a:t>
            </a:r>
            <a:endParaRPr lang="en-US" sz="1800" dirty="0"/>
          </a:p>
        </p:txBody>
      </p:sp>
      <p:sp>
        <p:nvSpPr>
          <p:cNvPr id="18" name="Text 16"/>
          <p:cNvSpPr/>
          <p:nvPr/>
        </p:nvSpPr>
        <p:spPr>
          <a:xfrm>
            <a:off x="1485900" y="7377113"/>
            <a:ext cx="10080392" cy="1538288"/>
          </a:xfrm>
          <a:prstGeom prst="rect">
            <a:avLst/>
          </a:prstGeom>
          <a:noFill/>
          <a:ln/>
        </p:spPr>
        <p:txBody>
          <a:bodyPr wrap="square" lIns="25400" tIns="25400" rIns="25400" bIns="25400" rtlCol="0" anchor="t">
            <a:normAutofit/>
          </a:bodyPr>
          <a:lstStyle/>
          <a:p>
            <a:pPr algn="l" indent="0" marL="0">
              <a:lnSpc>
                <a:spcPct val="102941"/>
              </a:lnSpc>
              <a:buNone/>
            </a:pPr>
            <a:r>
              <a:rPr lang="en-US" sz="3150" dirty="0">
                <a:solidFill>
                  <a:srgbClr val="0B0C0C"/>
                </a:solidFill>
                <a:latin typeface="Helvetica Neue" pitchFamily="34" charset="0"/>
                <a:ea typeface="Helvetica Neue" pitchFamily="34" charset="-122"/>
                <a:cs typeface="Helvetica Neue" pitchFamily="34" charset="-120"/>
              </a:rPr>
              <a:t>A spec that meets the GDS standard is also a spec an AI agent can consume without hand-holding. That's the one that ages best.</a:t>
            </a:r>
            <a:endParaRPr lang="en-US" sz="3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914400"/>
            <a:ext cx="8633460" cy="800100"/>
          </a:xfrm>
          <a:prstGeom prst="rect">
            <a:avLst/>
          </a:prstGeom>
          <a:noFill/>
          <a:ln/>
        </p:spPr>
        <p:txBody>
          <a:bodyPr wrap="square" lIns="25400" tIns="25400" rIns="25400" bIns="25400" rtlCol="0" anchor="t">
            <a:normAutofit/>
          </a:bodyPr>
          <a:lstStyle/>
          <a:p>
            <a:pPr algn="l" indent="0" marL="0">
              <a:lnSpc>
                <a:spcPct val="82474"/>
              </a:lnSpc>
              <a:buNone/>
            </a:pPr>
            <a:r>
              <a:rPr lang="en-US" sz="6000" b="1" spc="-150" kern="0" dirty="0">
                <a:solidFill>
                  <a:srgbClr val="0B0C0C"/>
                </a:solidFill>
                <a:latin typeface="Helvetica Neue" pitchFamily="34" charset="0"/>
                <a:ea typeface="Helvetica Neue" pitchFamily="34" charset="-122"/>
                <a:cs typeface="Helvetica Neue" pitchFamily="34" charset="-120"/>
              </a:rPr>
              <a:t>What's next</a:t>
            </a:r>
            <a:endParaRPr lang="en-US" sz="6000" dirty="0"/>
          </a:p>
        </p:txBody>
      </p:sp>
      <p:sp>
        <p:nvSpPr>
          <p:cNvPr id="3" name="Shape 1"/>
          <p:cNvSpPr/>
          <p:nvPr/>
        </p:nvSpPr>
        <p:spPr>
          <a:xfrm>
            <a:off x="914400" y="2266950"/>
            <a:ext cx="190500" cy="190500"/>
          </a:xfrm>
          <a:prstGeom prst="roundRect">
            <a:avLst>
              <a:gd name="adj" fmla="val 30000"/>
            </a:avLst>
          </a:prstGeom>
          <a:solidFill>
            <a:srgbClr val="B1CC33"/>
          </a:solidFill>
          <a:ln/>
        </p:spPr>
      </p:sp>
      <p:sp>
        <p:nvSpPr>
          <p:cNvPr id="4" name="Text 2"/>
          <p:cNvSpPr/>
          <p:nvPr/>
        </p:nvSpPr>
        <p:spPr>
          <a:xfrm>
            <a:off x="1371600" y="2133600"/>
            <a:ext cx="7613142" cy="998041"/>
          </a:xfrm>
          <a:prstGeom prst="rect">
            <a:avLst/>
          </a:prstGeom>
          <a:noFill/>
          <a:ln/>
        </p:spPr>
        <p:txBody>
          <a:bodyPr wrap="square" lIns="25400" tIns="25400" rIns="25400" bIns="25400" rtlCol="0" anchor="t">
            <a:normAutofit/>
          </a:bodyPr>
          <a:lstStyle/>
          <a:p>
            <a:pPr algn="l" indent="0" marL="0">
              <a:lnSpc>
                <a:spcPct val="117209"/>
              </a:lnSpc>
              <a:buNone/>
            </a:pPr>
            <a:r>
              <a:rPr lang="en-US" sz="2700" dirty="0">
                <a:solidFill>
                  <a:srgbClr val="0B0C0C"/>
                </a:solidFill>
                <a:latin typeface="Helvetica Neue" pitchFamily="34" charset="0"/>
                <a:ea typeface="Helvetica Neue" pitchFamily="34" charset="-122"/>
                <a:cs typeface="Helvetica Neue" pitchFamily="34" charset="-120"/>
              </a:rPr>
              <a:t>A </a:t>
            </a:r>
            <a:pPr algn="l" indent="0" marL="0">
              <a:lnSpc>
                <a:spcPct val="117209"/>
              </a:lnSpc>
              <a:buNone/>
            </a:pPr>
            <a:r>
              <a:rPr lang="en-US" sz="2700" b="1" dirty="0">
                <a:solidFill>
                  <a:srgbClr val="0B0C0C"/>
                </a:solidFill>
                <a:latin typeface="Helvetica Neue" pitchFamily="34" charset="0"/>
                <a:ea typeface="Helvetica Neue" pitchFamily="34" charset="-122"/>
                <a:cs typeface="Helvetica Neue" pitchFamily="34" charset="-120"/>
              </a:rPr>
              <a:t>GitHub Action </a:t>
            </a:r>
            <a:pPr algn="l" indent="0" marL="0">
              <a:lnSpc>
                <a:spcPct val="117209"/>
              </a:lnSpc>
              <a:buNone/>
            </a:pPr>
            <a:r>
              <a:rPr lang="en-US" sz="2700" dirty="0">
                <a:solidFill>
                  <a:srgbClr val="0B0C0C"/>
                </a:solidFill>
                <a:latin typeface="Helvetica Neue" pitchFamily="34" charset="0"/>
                <a:ea typeface="Helvetica Neue" pitchFamily="34" charset="-122"/>
                <a:cs typeface="Helvetica Neue" pitchFamily="34" charset="-120"/>
              </a:rPr>
              <a:t>, so the same checks run on every pull request as annotations.</a:t>
            </a:r>
            <a:endParaRPr lang="en-US" sz="2700" dirty="0"/>
          </a:p>
        </p:txBody>
      </p:sp>
      <p:sp>
        <p:nvSpPr>
          <p:cNvPr id="5" name="Shape 3"/>
          <p:cNvSpPr/>
          <p:nvPr/>
        </p:nvSpPr>
        <p:spPr>
          <a:xfrm>
            <a:off x="914400" y="3645991"/>
            <a:ext cx="190500" cy="190500"/>
          </a:xfrm>
          <a:prstGeom prst="roundRect">
            <a:avLst>
              <a:gd name="adj" fmla="val 30000"/>
            </a:avLst>
          </a:prstGeom>
          <a:solidFill>
            <a:srgbClr val="B1CC33"/>
          </a:solidFill>
          <a:ln/>
        </p:spPr>
      </p:sp>
      <p:sp>
        <p:nvSpPr>
          <p:cNvPr id="6" name="Text 4"/>
          <p:cNvSpPr/>
          <p:nvPr/>
        </p:nvSpPr>
        <p:spPr>
          <a:xfrm>
            <a:off x="1371600" y="3512641"/>
            <a:ext cx="7613142" cy="998041"/>
          </a:xfrm>
          <a:prstGeom prst="rect">
            <a:avLst/>
          </a:prstGeom>
          <a:noFill/>
          <a:ln/>
        </p:spPr>
        <p:txBody>
          <a:bodyPr wrap="square" lIns="25400" tIns="25400" rIns="25400" bIns="25400" rtlCol="0" anchor="t">
            <a:normAutofit/>
          </a:bodyPr>
          <a:lstStyle/>
          <a:p>
            <a:pPr algn="l" indent="0" marL="0">
              <a:lnSpc>
                <a:spcPct val="117209"/>
              </a:lnSpc>
              <a:buNone/>
            </a:pPr>
            <a:r>
              <a:rPr lang="en-US" sz="2700" b="1" dirty="0">
                <a:solidFill>
                  <a:srgbClr val="0B0C0C"/>
                </a:solidFill>
                <a:latin typeface="Helvetica Neue" pitchFamily="34" charset="0"/>
                <a:ea typeface="Helvetica Neue" pitchFamily="34" charset="-122"/>
                <a:cs typeface="Helvetica Neue" pitchFamily="34" charset="-120"/>
              </a:rPr>
              <a:t>More rules. </a:t>
            </a:r>
            <a:pPr algn="l" indent="0" marL="0">
              <a:lnSpc>
                <a:spcPct val="117209"/>
              </a:lnSpc>
              <a:buNone/>
            </a:pPr>
            <a:r>
              <a:rPr lang="en-US" sz="2700" dirty="0">
                <a:solidFill>
                  <a:srgbClr val="0B0C0C"/>
                </a:solidFill>
                <a:latin typeface="Helvetica Neue" pitchFamily="34" charset="0"/>
                <a:ea typeface="Helvetica Neue" pitchFamily="34" charset="-122"/>
                <a:cs typeface="Helvetica Neue" pitchFamily="34" charset="-120"/>
              </a:rPr>
              <a:t>The v1 ceiling is the whole GDS standard, not the subset we shipped this week.</a:t>
            </a:r>
            <a:endParaRPr lang="en-US" sz="2700" dirty="0"/>
          </a:p>
        </p:txBody>
      </p:sp>
      <p:sp>
        <p:nvSpPr>
          <p:cNvPr id="7" name="Shape 5"/>
          <p:cNvSpPr/>
          <p:nvPr/>
        </p:nvSpPr>
        <p:spPr>
          <a:xfrm>
            <a:off x="914400" y="5025033"/>
            <a:ext cx="190500" cy="190500"/>
          </a:xfrm>
          <a:prstGeom prst="roundRect">
            <a:avLst>
              <a:gd name="adj" fmla="val 30000"/>
            </a:avLst>
          </a:prstGeom>
          <a:solidFill>
            <a:srgbClr val="B1CC33"/>
          </a:solidFill>
          <a:ln/>
        </p:spPr>
      </p:sp>
      <p:sp>
        <p:nvSpPr>
          <p:cNvPr id="8" name="Text 6"/>
          <p:cNvSpPr/>
          <p:nvPr/>
        </p:nvSpPr>
        <p:spPr>
          <a:xfrm>
            <a:off x="1371600" y="4891683"/>
            <a:ext cx="7613142" cy="998041"/>
          </a:xfrm>
          <a:prstGeom prst="rect">
            <a:avLst/>
          </a:prstGeom>
          <a:noFill/>
          <a:ln/>
        </p:spPr>
        <p:txBody>
          <a:bodyPr wrap="square" lIns="25400" tIns="25400" rIns="25400" bIns="25400" rtlCol="0" anchor="t">
            <a:normAutofit/>
          </a:bodyPr>
          <a:lstStyle/>
          <a:p>
            <a:pPr algn="l" indent="0" marL="0">
              <a:lnSpc>
                <a:spcPct val="117209"/>
              </a:lnSpc>
              <a:buNone/>
            </a:pPr>
            <a:r>
              <a:rPr lang="en-US" sz="2700" dirty="0">
                <a:solidFill>
                  <a:srgbClr val="0B0C0C"/>
                </a:solidFill>
                <a:latin typeface="Helvetica Neue" pitchFamily="34" charset="0"/>
                <a:ea typeface="Helvetica Neue" pitchFamily="34" charset="-122"/>
                <a:cs typeface="Helvetica Neue" pitchFamily="34" charset="-120"/>
              </a:rPr>
              <a:t>A </a:t>
            </a:r>
            <a:pPr algn="l" indent="0" marL="0">
              <a:lnSpc>
                <a:spcPct val="117209"/>
              </a:lnSpc>
              <a:buNone/>
            </a:pPr>
            <a:r>
              <a:rPr lang="en-US" sz="2700" b="1" dirty="0">
                <a:solidFill>
                  <a:srgbClr val="0B0C0C"/>
                </a:solidFill>
                <a:latin typeface="Helvetica Neue" pitchFamily="34" charset="0"/>
                <a:ea typeface="Helvetica Neue" pitchFamily="34" charset="-122"/>
                <a:cs typeface="Helvetica Neue" pitchFamily="34" charset="-120"/>
              </a:rPr>
              <a:t>shared clause map </a:t>
            </a:r>
            <a:pPr algn="l" indent="0" marL="0">
              <a:lnSpc>
                <a:spcPct val="117209"/>
              </a:lnSpc>
              <a:buNone/>
            </a:pPr>
            <a:r>
              <a:rPr lang="en-US" sz="2700" dirty="0">
                <a:solidFill>
                  <a:srgbClr val="0B0C0C"/>
                </a:solidFill>
                <a:latin typeface="Helvetica Neue" pitchFamily="34" charset="0"/>
                <a:ea typeface="Helvetica Neue" pitchFamily="34" charset="-122"/>
                <a:cs typeface="Helvetica Neue" pitchFamily="34" charset="-120"/>
              </a:rPr>
              <a:t>that gov teams contribute back to.</a:t>
            </a:r>
            <a:endParaRPr lang="en-US" sz="2700" dirty="0"/>
          </a:p>
        </p:txBody>
      </p:sp>
      <p:sp>
        <p:nvSpPr>
          <p:cNvPr id="9" name="Text 7"/>
          <p:cNvSpPr/>
          <p:nvPr/>
        </p:nvSpPr>
        <p:spPr>
          <a:xfrm>
            <a:off x="914400" y="9067800"/>
            <a:ext cx="8633460" cy="342900"/>
          </a:xfrm>
          <a:prstGeom prst="rect">
            <a:avLst/>
          </a:prstGeom>
          <a:noFill/>
          <a:ln/>
        </p:spPr>
        <p:txBody>
          <a:bodyPr wrap="square" lIns="25400" tIns="25400" rIns="25400" bIns="25400" rtlCol="0" anchor="t">
            <a:normAutofit/>
          </a:bodyPr>
          <a:lstStyle/>
          <a:p>
            <a:pPr algn="l" indent="0" marL="0">
              <a:buNone/>
            </a:pPr>
            <a:r>
              <a:rPr lang="en-US" sz="1950" dirty="0">
                <a:solidFill>
                  <a:srgbClr val="6B6F6F"/>
                </a:solidFill>
                <a:latin typeface="Helvetica Neue" pitchFamily="34" charset="0"/>
                <a:ea typeface="Helvetica Neue" pitchFamily="34" charset="-122"/>
                <a:cs typeface="Helvetica Neue" pitchFamily="34" charset="-120"/>
              </a:rPr>
              <a:t>Thanks — questions welcome.</a:t>
            </a:r>
            <a:endParaRPr lang="en-US" sz="1950" dirty="0"/>
          </a:p>
        </p:txBody>
      </p:sp>
      <p:sp>
        <p:nvSpPr>
          <p:cNvPr id="10" name="Shape 8"/>
          <p:cNvSpPr/>
          <p:nvPr/>
        </p:nvSpPr>
        <p:spPr>
          <a:xfrm>
            <a:off x="9525000" y="914400"/>
            <a:ext cx="7848600" cy="8458200"/>
          </a:xfrm>
          <a:prstGeom prst="roundRect">
            <a:avLst>
              <a:gd name="adj" fmla="val 2913"/>
            </a:avLst>
          </a:prstGeom>
          <a:solidFill>
            <a:srgbClr val="0B0C0C"/>
          </a:solidFill>
          <a:ln/>
        </p:spPr>
      </p:sp>
      <p:sp>
        <p:nvSpPr>
          <p:cNvPr id="11" name="Text 9"/>
          <p:cNvSpPr/>
          <p:nvPr/>
        </p:nvSpPr>
        <p:spPr>
          <a:xfrm>
            <a:off x="10134600" y="1524000"/>
            <a:ext cx="7292340"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8B8F8F"/>
                </a:solidFill>
                <a:latin typeface="Courier New" pitchFamily="34" charset="0"/>
                <a:ea typeface="Courier New" pitchFamily="34" charset="-122"/>
                <a:cs typeface="Courier New" pitchFamily="34" charset="-120"/>
              </a:rPr>
              <a:t>NOT ON THE ROADMAP</a:t>
            </a:r>
            <a:endParaRPr lang="en-US" sz="1800" dirty="0"/>
          </a:p>
        </p:txBody>
      </p:sp>
      <p:sp>
        <p:nvSpPr>
          <p:cNvPr id="12" name="Text 10"/>
          <p:cNvSpPr/>
          <p:nvPr/>
        </p:nvSpPr>
        <p:spPr>
          <a:xfrm>
            <a:off x="10134600" y="2171700"/>
            <a:ext cx="438150"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499C6"/>
                </a:solidFill>
                <a:latin typeface="Helvetica Neue" pitchFamily="34" charset="0"/>
                <a:ea typeface="Helvetica Neue" pitchFamily="34" charset="-122"/>
                <a:cs typeface="Helvetica Neue" pitchFamily="34" charset="-120"/>
              </a:rPr>
              <a:t>—</a:t>
            </a:r>
            <a:endParaRPr lang="en-US" sz="2850" dirty="0"/>
          </a:p>
        </p:txBody>
      </p:sp>
      <p:sp>
        <p:nvSpPr>
          <p:cNvPr id="13" name="Text 11"/>
          <p:cNvSpPr/>
          <p:nvPr/>
        </p:nvSpPr>
        <p:spPr>
          <a:xfrm>
            <a:off x="10725150" y="2171700"/>
            <a:ext cx="2964314"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2F4F4"/>
                </a:solidFill>
                <a:latin typeface="Helvetica Neue" pitchFamily="34" charset="0"/>
                <a:ea typeface="Helvetica Neue" pitchFamily="34" charset="-122"/>
                <a:cs typeface="Helvetica Neue" pitchFamily="34" charset="-120"/>
              </a:rPr>
              <a:t>A hosted service</a:t>
            </a:r>
            <a:endParaRPr lang="en-US" sz="2850" dirty="0"/>
          </a:p>
        </p:txBody>
      </p:sp>
      <p:sp>
        <p:nvSpPr>
          <p:cNvPr id="14" name="Text 12"/>
          <p:cNvSpPr/>
          <p:nvPr/>
        </p:nvSpPr>
        <p:spPr>
          <a:xfrm>
            <a:off x="10134600" y="2870746"/>
            <a:ext cx="438150"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499C6"/>
                </a:solidFill>
                <a:latin typeface="Helvetica Neue" pitchFamily="34" charset="0"/>
                <a:ea typeface="Helvetica Neue" pitchFamily="34" charset="-122"/>
                <a:cs typeface="Helvetica Neue" pitchFamily="34" charset="-120"/>
              </a:rPr>
              <a:t>—</a:t>
            </a:r>
            <a:endParaRPr lang="en-US" sz="2850" dirty="0"/>
          </a:p>
        </p:txBody>
      </p:sp>
      <p:sp>
        <p:nvSpPr>
          <p:cNvPr id="15" name="Text 13"/>
          <p:cNvSpPr/>
          <p:nvPr/>
        </p:nvSpPr>
        <p:spPr>
          <a:xfrm>
            <a:off x="10725150" y="2870746"/>
            <a:ext cx="827336"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2F4F4"/>
                </a:solidFill>
                <a:latin typeface="Helvetica Neue" pitchFamily="34" charset="0"/>
                <a:ea typeface="Helvetica Neue" pitchFamily="34" charset="-122"/>
                <a:cs typeface="Helvetica Neue" pitchFamily="34" charset="-120"/>
              </a:rPr>
              <a:t>Auth</a:t>
            </a:r>
            <a:endParaRPr lang="en-US" sz="2850" dirty="0"/>
          </a:p>
        </p:txBody>
      </p:sp>
      <p:sp>
        <p:nvSpPr>
          <p:cNvPr id="16" name="Text 14"/>
          <p:cNvSpPr/>
          <p:nvPr/>
        </p:nvSpPr>
        <p:spPr>
          <a:xfrm>
            <a:off x="10134600" y="3569791"/>
            <a:ext cx="438150"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499C6"/>
                </a:solidFill>
                <a:latin typeface="Helvetica Neue" pitchFamily="34" charset="0"/>
                <a:ea typeface="Helvetica Neue" pitchFamily="34" charset="-122"/>
                <a:cs typeface="Helvetica Neue" pitchFamily="34" charset="-120"/>
              </a:rPr>
              <a:t>—</a:t>
            </a:r>
            <a:endParaRPr lang="en-US" sz="2850" dirty="0"/>
          </a:p>
        </p:txBody>
      </p:sp>
      <p:sp>
        <p:nvSpPr>
          <p:cNvPr id="17" name="Text 15"/>
          <p:cNvSpPr/>
          <p:nvPr/>
        </p:nvSpPr>
        <p:spPr>
          <a:xfrm>
            <a:off x="10725150" y="3569791"/>
            <a:ext cx="2279020"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2F4F4"/>
                </a:solidFill>
                <a:latin typeface="Helvetica Neue" pitchFamily="34" charset="0"/>
                <a:ea typeface="Helvetica Neue" pitchFamily="34" charset="-122"/>
                <a:cs typeface="Helvetica Neue" pitchFamily="34" charset="-120"/>
              </a:rPr>
              <a:t>A dashboard</a:t>
            </a:r>
            <a:endParaRPr lang="en-US" sz="2850" dirty="0"/>
          </a:p>
        </p:txBody>
      </p:sp>
      <p:sp>
        <p:nvSpPr>
          <p:cNvPr id="18" name="Text 16"/>
          <p:cNvSpPr/>
          <p:nvPr/>
        </p:nvSpPr>
        <p:spPr>
          <a:xfrm>
            <a:off x="10134600" y="4268837"/>
            <a:ext cx="438150"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499C6"/>
                </a:solidFill>
                <a:latin typeface="Helvetica Neue" pitchFamily="34" charset="0"/>
                <a:ea typeface="Helvetica Neue" pitchFamily="34" charset="-122"/>
                <a:cs typeface="Helvetica Neue" pitchFamily="34" charset="-120"/>
              </a:rPr>
              <a:t>—</a:t>
            </a:r>
            <a:endParaRPr lang="en-US" sz="2850" dirty="0"/>
          </a:p>
        </p:txBody>
      </p:sp>
      <p:sp>
        <p:nvSpPr>
          <p:cNvPr id="19" name="Text 17"/>
          <p:cNvSpPr/>
          <p:nvPr/>
        </p:nvSpPr>
        <p:spPr>
          <a:xfrm>
            <a:off x="10725150" y="4268837"/>
            <a:ext cx="3636347" cy="508546"/>
          </a:xfrm>
          <a:prstGeom prst="rect">
            <a:avLst/>
          </a:prstGeom>
          <a:noFill/>
          <a:ln/>
        </p:spPr>
        <p:txBody>
          <a:bodyPr wrap="square" lIns="25400" tIns="25400" rIns="25400" bIns="25400" rtlCol="0" anchor="t">
            <a:normAutofit/>
          </a:bodyPr>
          <a:lstStyle/>
          <a:p>
            <a:pPr algn="l" indent="0" marL="0">
              <a:lnSpc>
                <a:spcPct val="109778"/>
              </a:lnSpc>
              <a:buNone/>
            </a:pPr>
            <a:r>
              <a:rPr lang="en-US" sz="2850" dirty="0">
                <a:solidFill>
                  <a:srgbClr val="F2F4F4"/>
                </a:solidFill>
                <a:latin typeface="Helvetica Neue" pitchFamily="34" charset="0"/>
                <a:ea typeface="Helvetica Neue" pitchFamily="34" charset="-122"/>
                <a:cs typeface="Helvetica Neue" pitchFamily="34" charset="-120"/>
              </a:rPr>
              <a:t>An auto-apply mode</a:t>
            </a:r>
            <a:endParaRPr lang="en-US" sz="2850" dirty="0"/>
          </a:p>
        </p:txBody>
      </p:sp>
      <p:sp>
        <p:nvSpPr>
          <p:cNvPr id="20" name="Shape 18"/>
          <p:cNvSpPr/>
          <p:nvPr/>
        </p:nvSpPr>
        <p:spPr>
          <a:xfrm>
            <a:off x="10134600" y="8002042"/>
            <a:ext cx="6629400" cy="19050"/>
          </a:xfrm>
          <a:prstGeom prst="rect">
            <a:avLst/>
          </a:prstGeom>
          <a:solidFill>
            <a:srgbClr val="3D4141"/>
          </a:solidFill>
          <a:ln/>
        </p:spPr>
      </p:sp>
      <p:sp>
        <p:nvSpPr>
          <p:cNvPr id="21" name="Text 19"/>
          <p:cNvSpPr/>
          <p:nvPr/>
        </p:nvSpPr>
        <p:spPr>
          <a:xfrm>
            <a:off x="10134600" y="8325892"/>
            <a:ext cx="6828282" cy="475208"/>
          </a:xfrm>
          <a:prstGeom prst="rect">
            <a:avLst/>
          </a:prstGeom>
          <a:noFill/>
          <a:ln/>
        </p:spPr>
        <p:txBody>
          <a:bodyPr wrap="square" lIns="25400" tIns="25400" rIns="25400" bIns="25400" rtlCol="0" anchor="t">
            <a:normAutofit/>
          </a:bodyPr>
          <a:lstStyle/>
          <a:p>
            <a:pPr algn="l" indent="0" marL="0">
              <a:lnSpc>
                <a:spcPct val="111951"/>
              </a:lnSpc>
              <a:buNone/>
            </a:pPr>
            <a:r>
              <a:rPr lang="en-US" sz="2550" dirty="0">
                <a:solidFill>
                  <a:srgbClr val="F2F4F4"/>
                </a:solidFill>
                <a:latin typeface="Helvetica Neue" pitchFamily="34" charset="0"/>
                <a:ea typeface="Helvetica Neue" pitchFamily="34" charset="-122"/>
                <a:cs typeface="Helvetica Neue" pitchFamily="34" charset="-120"/>
              </a:rPr>
              <a:t>This stays a local tool.</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2026-08-06T08:56:11Z</dcterms:created>
  <dcterms:modified xsi:type="dcterms:W3CDTF">2026-08-06T08:56:11Z</dcterms:modified>
</cp:coreProperties>
</file>