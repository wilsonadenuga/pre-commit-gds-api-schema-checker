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intro short. It's a small local tool that runs before you commit. That's the whole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to land: standards without tooling are standards on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human-in-the-loop point. Coach, not gate. Say it once,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file first so people see what 'broken' looks like. Run the tool. First finding: clause quoted, diff shown. Press y. Press n on the next one to prove you can say no. Press e on one to prove you can edit. End on the cost summary at the bottom of the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asks how we'd coach a junior on AI output, this slide is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dwell here. One breath per point, then land the agent angle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Thanks.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-472067" t="0" b="0"/>
          <a:stretch/>
        </p:blipFill>
        <p:spPr>
          <a:xfrm>
            <a:off x="914400" y="914400"/>
            <a:ext cx="86868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013621"/>
            <a:ext cx="955548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234" kern="0" dirty="0">
                <a:solidFill>
                  <a:srgbClr val="4A4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PRE-COMMIT TOOLING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914400" y="3675608"/>
            <a:ext cx="8947404" cy="197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740"/>
              </a:lnSpc>
              <a:buNone/>
            </a:pPr>
            <a:r>
              <a:rPr lang="en-US" sz="7800" b="1" spc="-234" kern="0" dirty="0">
                <a:solidFill>
                  <a:srgbClr val="0B0C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gds-api- schema-uplift</a:t>
            </a:r>
            <a:endParaRPr lang="en-US" sz="7800" dirty="0"/>
          </a:p>
        </p:txBody>
      </p:sp>
      <p:sp>
        <p:nvSpPr>
          <p:cNvPr id="5" name="Text 2"/>
          <p:cNvSpPr/>
          <p:nvPr/>
        </p:nvSpPr>
        <p:spPr>
          <a:xfrm>
            <a:off x="914400" y="5959971"/>
            <a:ext cx="4560159" cy="1503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22"/>
              </a:lnSpc>
              <a:buNone/>
            </a:pPr>
            <a:r>
              <a:rPr lang="en-US" sz="28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CLI tool that runs as a pre-commit hook when you're building a GDS API</a:t>
            </a:r>
            <a:endParaRPr lang="en-US" sz="2850" dirty="0"/>
          </a:p>
        </p:txBody>
      </p:sp>
      <p:sp>
        <p:nvSpPr>
          <p:cNvPr id="6" name="Text 3"/>
          <p:cNvSpPr/>
          <p:nvPr/>
        </p:nvSpPr>
        <p:spPr>
          <a:xfrm>
            <a:off x="914400" y="8610600"/>
            <a:ext cx="95554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Wilson Adenuga · Teemerte Teccola</a:t>
            </a:r>
            <a:endParaRPr lang="en-US" sz="2250" dirty="0"/>
          </a:p>
        </p:txBody>
      </p:sp>
      <p:sp>
        <p:nvSpPr>
          <p:cNvPr id="7" name="Text 4"/>
          <p:cNvSpPr/>
          <p:nvPr/>
        </p:nvSpPr>
        <p:spPr>
          <a:xfrm>
            <a:off x="914400" y="9077325"/>
            <a:ext cx="9555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Accelerator for Engineers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0515600" y="0"/>
            <a:ext cx="7772400" cy="10287000"/>
          </a:xfrm>
          <a:prstGeom prst="rect">
            <a:avLst/>
          </a:prstGeom>
          <a:solidFill>
            <a:srgbClr val="B1CC33"/>
          </a:solidFill>
          <a:ln/>
        </p:spPr>
      </p:sp>
      <p:sp>
        <p:nvSpPr>
          <p:cNvPr id="9" name="Shape 6"/>
          <p:cNvSpPr/>
          <p:nvPr/>
        </p:nvSpPr>
        <p:spPr>
          <a:xfrm>
            <a:off x="12458700" y="0"/>
            <a:ext cx="5829300" cy="3429000"/>
          </a:xfrm>
          <a:custGeom>
            <a:avLst/>
            <a:gdLst/>
            <a:ahLst/>
            <a:cxnLst/>
            <a:rect l="l" t="t" r="r" b="b"/>
            <a:pathLst>
              <a:path w="5829300" h="3429000">
                <a:moveTo>
                  <a:pt x="0" y="0"/>
                </a:moveTo>
                <a:lnTo>
                  <a:pt x="5829300" y="0"/>
                </a:lnTo>
                <a:lnTo>
                  <a:pt x="5829300" y="3429000"/>
                </a:lnTo>
                <a:lnTo>
                  <a:pt x="533400" y="3429000"/>
                </a:lnTo>
                <a:arcTo hR="533400" wR="5334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499C6"/>
          </a:solidFill>
          <a:ln/>
        </p:spPr>
      </p:sp>
      <p:sp>
        <p:nvSpPr>
          <p:cNvPr id="10" name="Shape 7"/>
          <p:cNvSpPr/>
          <p:nvPr/>
        </p:nvSpPr>
        <p:spPr>
          <a:xfrm>
            <a:off x="12458700" y="3429000"/>
            <a:ext cx="1943100" cy="1714500"/>
          </a:xfrm>
          <a:prstGeom prst="roundRect">
            <a:avLst>
              <a:gd name="adj" fmla="val 31111"/>
            </a:avLst>
          </a:prstGeom>
          <a:solidFill>
            <a:srgbClr val="F499C6"/>
          </a:solidFill>
          <a:ln/>
        </p:spPr>
      </p:sp>
      <p:sp>
        <p:nvSpPr>
          <p:cNvPr id="11" name="Shape 8"/>
          <p:cNvSpPr/>
          <p:nvPr/>
        </p:nvSpPr>
        <p:spPr>
          <a:xfrm>
            <a:off x="16344900" y="3429000"/>
            <a:ext cx="1943100" cy="3429000"/>
          </a:xfrm>
          <a:custGeom>
            <a:avLst/>
            <a:gdLst/>
            <a:ahLst/>
            <a:cxnLst/>
            <a:rect l="l" t="t" r="r" b="b"/>
            <a:pathLst>
              <a:path w="1943100" h="3429000">
                <a:moveTo>
                  <a:pt x="533400" y="0"/>
                </a:moveTo>
                <a:lnTo>
                  <a:pt x="1943100" y="0"/>
                </a:lnTo>
                <a:lnTo>
                  <a:pt x="1943100" y="3429000"/>
                </a:lnTo>
                <a:lnTo>
                  <a:pt x="533400" y="3429000"/>
                </a:lnTo>
                <a:arcTo hR="533400" wR="533400" stAng="5400000" swAng="5400000"/>
                <a:lnTo>
                  <a:pt x="0" y="533400"/>
                </a:lnTo>
                <a:arcTo hR="533400" wR="533400" stAng="10800000" swAng="5400000"/>
                <a:close/>
              </a:path>
            </a:pathLst>
          </a:custGeom>
          <a:solidFill>
            <a:srgbClr val="FFDD00"/>
          </a:solidFill>
          <a:ln/>
        </p:spPr>
      </p:sp>
      <p:sp>
        <p:nvSpPr>
          <p:cNvPr id="12" name="Shape 9"/>
          <p:cNvSpPr/>
          <p:nvPr/>
        </p:nvSpPr>
        <p:spPr>
          <a:xfrm>
            <a:off x="10515600" y="6858000"/>
            <a:ext cx="5829300" cy="3429000"/>
          </a:xfrm>
          <a:custGeom>
            <a:avLst/>
            <a:gdLst/>
            <a:ahLst/>
            <a:cxnLst/>
            <a:rect l="l" t="t" r="r" b="b"/>
            <a:pathLst>
              <a:path w="5829300" h="3429000">
                <a:moveTo>
                  <a:pt x="0" y="0"/>
                </a:moveTo>
                <a:lnTo>
                  <a:pt x="5295900" y="0"/>
                </a:lnTo>
                <a:arcTo hR="533400" wR="533400" stAng="16200000" swAng="5400000"/>
                <a:lnTo>
                  <a:pt x="5829300" y="3429000"/>
                </a:lnTo>
                <a:lnTo>
                  <a:pt x="0" y="3429000"/>
                </a:lnTo>
                <a:lnTo>
                  <a:pt x="0" y="0"/>
                </a:lnTo>
                <a:close/>
              </a:path>
            </a:pathLst>
          </a:custGeom>
          <a:solidFill>
            <a:srgbClr val="FFDD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28688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F499C6"/>
          </a:solidFill>
          <a:ln/>
        </p:spPr>
      </p:sp>
      <p:sp>
        <p:nvSpPr>
          <p:cNvPr id="3" name="Text 1"/>
          <p:cNvSpPr/>
          <p:nvPr/>
        </p:nvSpPr>
        <p:spPr>
          <a:xfrm>
            <a:off x="1409700" y="914400"/>
            <a:ext cx="19916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4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311896"/>
            <a:ext cx="14662396" cy="2171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051"/>
              </a:lnSpc>
              <a:buNone/>
            </a:pPr>
            <a:r>
              <a:rPr lang="en-US" sz="8400" b="1" spc="-252" kern="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Standards without tooling are standards on paper.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914400" y="5547717"/>
            <a:ext cx="16459200" cy="38100"/>
          </a:xfrm>
          <a:prstGeom prst="rect">
            <a:avLst/>
          </a:prstGeom>
          <a:solidFill>
            <a:srgbClr val="0B0C0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6195417"/>
            <a:ext cx="171450" cy="171450"/>
          </a:xfrm>
          <a:prstGeom prst="roundRect">
            <a:avLst>
              <a:gd name="adj" fmla="val 27778"/>
            </a:avLst>
          </a:prstGeom>
          <a:solidFill>
            <a:srgbClr val="F499C6"/>
          </a:solidFill>
          <a:ln/>
        </p:spPr>
      </p:sp>
      <p:sp>
        <p:nvSpPr>
          <p:cNvPr id="7" name="Text 5"/>
          <p:cNvSpPr/>
          <p:nvPr/>
        </p:nvSpPr>
        <p:spPr>
          <a:xfrm>
            <a:off x="1314450" y="6043017"/>
            <a:ext cx="7672007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GDS API Standards are written as prose — no computer can check them directly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7406878"/>
            <a:ext cx="171450" cy="171450"/>
          </a:xfrm>
          <a:prstGeom prst="roundRect">
            <a:avLst>
              <a:gd name="adj" fmla="val 27778"/>
            </a:avLst>
          </a:prstGeom>
          <a:solidFill>
            <a:srgbClr val="F499C6"/>
          </a:solidFill>
          <a:ln/>
        </p:spPr>
      </p:sp>
      <p:sp>
        <p:nvSpPr>
          <p:cNvPr id="9" name="Text 7"/>
          <p:cNvSpPr/>
          <p:nvPr/>
        </p:nvSpPr>
        <p:spPr>
          <a:xfrm>
            <a:off x="1314450" y="7254478"/>
            <a:ext cx="7672007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Compliance gets caught at code review, or missed entirely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8618339"/>
            <a:ext cx="171450" cy="171450"/>
          </a:xfrm>
          <a:prstGeom prst="roundRect">
            <a:avLst>
              <a:gd name="adj" fmla="val 27778"/>
            </a:avLst>
          </a:prstGeom>
          <a:solidFill>
            <a:srgbClr val="F499C6"/>
          </a:solidFill>
          <a:ln/>
        </p:spPr>
      </p:sp>
      <p:sp>
        <p:nvSpPr>
          <p:cNvPr id="11" name="Text 9"/>
          <p:cNvSpPr/>
          <p:nvPr/>
        </p:nvSpPr>
        <p:spPr>
          <a:xfrm>
            <a:off x="1314450" y="8465939"/>
            <a:ext cx="7672007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team writes its own version of the checks, and they drift apart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525000" y="6043017"/>
            <a:ext cx="8633460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matters more than it used to: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525000" y="6895505"/>
            <a:ext cx="171450" cy="171450"/>
          </a:xfrm>
          <a:prstGeom prst="roundRect">
            <a:avLst>
              <a:gd name="adj" fmla="val 27778"/>
            </a:avLst>
          </a:prstGeom>
          <a:solidFill>
            <a:srgbClr val="FFDD00"/>
          </a:solidFill>
          <a:ln/>
        </p:spPr>
      </p:sp>
      <p:sp>
        <p:nvSpPr>
          <p:cNvPr id="14" name="Text 12"/>
          <p:cNvSpPr/>
          <p:nvPr/>
        </p:nvSpPr>
        <p:spPr>
          <a:xfrm>
            <a:off x="9925050" y="6743105"/>
            <a:ext cx="7672007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agents now read OpenAPI specs directly to work out how to call an API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25000" y="8106966"/>
            <a:ext cx="171450" cy="171450"/>
          </a:xfrm>
          <a:prstGeom prst="roundRect">
            <a:avLst>
              <a:gd name="adj" fmla="val 27778"/>
            </a:avLst>
          </a:prstGeom>
          <a:solidFill>
            <a:srgbClr val="FFDD00"/>
          </a:solidFill>
          <a:ln/>
        </p:spPr>
      </p:sp>
      <p:sp>
        <p:nvSpPr>
          <p:cNvPr id="16" name="Text 14"/>
          <p:cNvSpPr/>
          <p:nvPr/>
        </p:nvSpPr>
        <p:spPr>
          <a:xfrm>
            <a:off x="9925050" y="7954566"/>
            <a:ext cx="7672007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the spec is off, it isn't a review nit — </a:t>
            </a:r>
            <a:pPr algn="l" indent="0" marL="0">
              <a:lnSpc>
                <a:spcPct val="117531"/>
              </a:lnSpc>
              <a:buNone/>
            </a:pPr>
            <a:r>
              <a:rPr lang="en-US" sz="255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agent gives up</a:t>
            </a:r>
            <a:endParaRPr lang="en-US" sz="2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28688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B1CC33"/>
          </a:solidFill>
          <a:ln/>
        </p:spPr>
      </p:sp>
      <p:sp>
        <p:nvSpPr>
          <p:cNvPr id="3" name="Text 1"/>
          <p:cNvSpPr/>
          <p:nvPr/>
        </p:nvSpPr>
        <p:spPr>
          <a:xfrm>
            <a:off x="1409700" y="914400"/>
            <a:ext cx="235367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4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628775"/>
            <a:ext cx="18105120" cy="8541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590"/>
              </a:lnSpc>
              <a:buNone/>
            </a:pPr>
            <a:r>
              <a:rPr lang="en-US" sz="6300" b="1" spc="-189" kern="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command, before you commit.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914400" y="3130674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B1CC33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978274"/>
            <a:ext cx="11152071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Parses the spec and checks it against the </a:t>
            </a:r>
            <a:pPr algn="l" indent="0" marL="0">
              <a:lnSpc>
                <a:spcPct val="117531"/>
              </a:lnSpc>
              <a:buNone/>
            </a:pPr>
            <a:r>
              <a:rPr lang="en-US" sz="255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GDS and NCSC standards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3907854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B1CC33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755454"/>
            <a:ext cx="946814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Prints each issue alongside the </a:t>
            </a:r>
            <a:pPr algn="l" indent="0" marL="0">
              <a:lnSpc>
                <a:spcPct val="117531"/>
              </a:lnSpc>
              <a:buNone/>
            </a:pPr>
            <a:r>
              <a:rPr lang="en-US" sz="255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exact clause </a:t>
            </a:r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comes from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468503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FDD00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32635"/>
            <a:ext cx="9956817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judgement is needed, </a:t>
            </a:r>
            <a:pPr algn="l" indent="0" marL="0">
              <a:lnSpc>
                <a:spcPct val="117531"/>
              </a:lnSpc>
              <a:buNone/>
            </a:pPr>
            <a:r>
              <a:rPr lang="en-US" sz="255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Claude proposes a concrete fix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546221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FDD00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5309815"/>
            <a:ext cx="13080668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developer walks the findings one at a time — </a:t>
            </a:r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accept, skip, edit, quit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6239396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499C6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6086996"/>
            <a:ext cx="12245005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31"/>
              </a:lnSpc>
              <a:buNone/>
            </a:pPr>
            <a:r>
              <a:rPr lang="en-US" sz="25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Nothing is written to disk without an explicit yes, and a </a:t>
            </a:r>
            <a:pPr algn="l" indent="0" marL="0">
              <a:lnSpc>
                <a:spcPct val="117531"/>
              </a:lnSpc>
              <a:buNone/>
            </a:pPr>
            <a:r>
              <a:rPr lang="en-US" sz="255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backup is taken first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7188026"/>
            <a:ext cx="16459200" cy="1897261"/>
          </a:xfrm>
          <a:prstGeom prst="roundRect">
            <a:avLst>
              <a:gd name="adj" fmla="val 12049"/>
            </a:avLst>
          </a:prstGeom>
          <a:solidFill>
            <a:srgbClr val="0B0C0C"/>
          </a:solidFill>
          <a:ln/>
        </p:spPr>
      </p:sp>
      <p:sp>
        <p:nvSpPr>
          <p:cNvPr id="16" name="Text 14"/>
          <p:cNvSpPr/>
          <p:nvPr/>
        </p:nvSpPr>
        <p:spPr>
          <a:xfrm>
            <a:off x="1447800" y="7607126"/>
            <a:ext cx="1693164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444"/>
              </a:lnSpc>
              <a:buNone/>
            </a:pPr>
            <a:r>
              <a:rPr lang="en-US" sz="1800" spc="216" kern="0" dirty="0">
                <a:solidFill>
                  <a:srgbClr val="6B6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47800" y="8079507"/>
            <a:ext cx="1693164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444"/>
              </a:lnSpc>
              <a:buNone/>
            </a:pPr>
            <a:r>
              <a:rPr lang="en-US" sz="3300" dirty="0">
                <a:solidFill>
                  <a:srgbClr val="B1CC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gds-api-schema-uplift openapi.yaml</a:t>
            </a:r>
            <a:endParaRPr lang="en-US" sz="3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1C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585270"/>
            <a:ext cx="777004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B0C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 MINUTES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4185345"/>
            <a:ext cx="7770049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569"/>
              </a:lnSpc>
              <a:buNone/>
            </a:pPr>
            <a:r>
              <a:rPr lang="en-US" sz="11250" b="1" spc="-450" kern="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</a:t>
            </a:r>
            <a:endParaRPr lang="en-US" sz="11250" dirty="0"/>
          </a:p>
        </p:txBody>
      </p:sp>
      <p:sp>
        <p:nvSpPr>
          <p:cNvPr id="4" name="Text 2"/>
          <p:cNvSpPr/>
          <p:nvPr/>
        </p:nvSpPr>
        <p:spPr>
          <a:xfrm>
            <a:off x="914400" y="5776020"/>
            <a:ext cx="4320179" cy="963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023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run against a deliberately broken spec.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40080" y="2821484"/>
            <a:ext cx="8633520" cy="4644033"/>
          </a:xfrm>
          <a:prstGeom prst="roundRect">
            <a:avLst>
              <a:gd name="adj" fmla="val 4922"/>
            </a:avLst>
          </a:prstGeom>
          <a:solidFill>
            <a:srgbClr val="0B0C0C"/>
          </a:solidFill>
          <a:ln/>
        </p:spPr>
      </p:sp>
      <p:sp>
        <p:nvSpPr>
          <p:cNvPr id="6" name="Text 4"/>
          <p:cNvSpPr/>
          <p:nvPr/>
        </p:nvSpPr>
        <p:spPr>
          <a:xfrm>
            <a:off x="9273480" y="3316784"/>
            <a:ext cx="24199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B1CC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9705975" y="3316784"/>
            <a:ext cx="364617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F2F4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the broken file</a:t>
            </a:r>
            <a:endParaRPr lang="en-US" sz="2175" dirty="0"/>
          </a:p>
        </p:txBody>
      </p:sp>
      <p:sp>
        <p:nvSpPr>
          <p:cNvPr id="8" name="Text 6"/>
          <p:cNvSpPr/>
          <p:nvPr/>
        </p:nvSpPr>
        <p:spPr>
          <a:xfrm>
            <a:off x="9273480" y="3970139"/>
            <a:ext cx="24199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B1CC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9705975" y="3970139"/>
            <a:ext cx="729234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F2F4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the tool — clause quoted, diff shown</a:t>
            </a:r>
            <a:endParaRPr lang="en-US" sz="2175" dirty="0"/>
          </a:p>
        </p:txBody>
      </p:sp>
      <p:sp>
        <p:nvSpPr>
          <p:cNvPr id="10" name="Text 8"/>
          <p:cNvSpPr/>
          <p:nvPr/>
        </p:nvSpPr>
        <p:spPr>
          <a:xfrm>
            <a:off x="9273480" y="4623495"/>
            <a:ext cx="24199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B1CC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9705975" y="4623495"/>
            <a:ext cx="330892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F2F4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 </a:t>
            </a:r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0B0C0C"/>
                </a:solidFill>
                <a:highlight>
                  <a:srgbClr val="B1CC33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</a:t>
            </a:r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F2F4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accept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9273480" y="5276850"/>
            <a:ext cx="24199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B1CC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175" dirty="0"/>
          </a:p>
        </p:txBody>
      </p:sp>
      <p:sp>
        <p:nvSpPr>
          <p:cNvPr id="13" name="Text 11"/>
          <p:cNvSpPr/>
          <p:nvPr/>
        </p:nvSpPr>
        <p:spPr>
          <a:xfrm>
            <a:off x="9705975" y="5276850"/>
            <a:ext cx="5861261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F2F4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 </a:t>
            </a:r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0B0C0C"/>
                </a:solidFill>
                <a:highlight>
                  <a:srgbClr val="F499C6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</a:t>
            </a:r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F2F4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prove you can say no</a:t>
            </a:r>
            <a:endParaRPr lang="en-US" sz="2175" dirty="0"/>
          </a:p>
        </p:txBody>
      </p:sp>
      <p:sp>
        <p:nvSpPr>
          <p:cNvPr id="14" name="Text 12"/>
          <p:cNvSpPr/>
          <p:nvPr/>
        </p:nvSpPr>
        <p:spPr>
          <a:xfrm>
            <a:off x="9273480" y="5930205"/>
            <a:ext cx="24199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B1CC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9705975" y="5930205"/>
            <a:ext cx="5314384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F2F4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 </a:t>
            </a:r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0B0C0C"/>
                </a:solidFill>
                <a:highlight>
                  <a:srgbClr val="FFDD00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</a:t>
            </a:r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F2F4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edit a suggestion</a:t>
            </a:r>
            <a:endParaRPr lang="en-US" sz="2175" dirty="0"/>
          </a:p>
        </p:txBody>
      </p:sp>
      <p:sp>
        <p:nvSpPr>
          <p:cNvPr id="16" name="Text 14"/>
          <p:cNvSpPr/>
          <p:nvPr/>
        </p:nvSpPr>
        <p:spPr>
          <a:xfrm>
            <a:off x="9273480" y="6583561"/>
            <a:ext cx="24199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B1CC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175" dirty="0"/>
          </a:p>
        </p:txBody>
      </p:sp>
      <p:sp>
        <p:nvSpPr>
          <p:cNvPr id="17" name="Text 15"/>
          <p:cNvSpPr/>
          <p:nvPr/>
        </p:nvSpPr>
        <p:spPr>
          <a:xfrm>
            <a:off x="9705975" y="6583561"/>
            <a:ext cx="4193128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923"/>
              </a:lnSpc>
              <a:buNone/>
            </a:pPr>
            <a:r>
              <a:rPr lang="en-US" sz="2175" dirty="0">
                <a:solidFill>
                  <a:srgbClr val="F2F4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on the cost summary</a:t>
            </a:r>
            <a:endParaRPr lang="en-US" sz="21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514496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633"/>
              </a:lnSpc>
              <a:buNone/>
            </a:pPr>
            <a:r>
              <a:rPr lang="en-US" sz="6000" b="1" spc="-150" kern="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you can trust it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14740086" y="1347788"/>
            <a:ext cx="28968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4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GUARANTEES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2209800"/>
            <a:ext cx="5232350" cy="7162800"/>
          </a:xfrm>
          <a:prstGeom prst="roundRect">
            <a:avLst>
              <a:gd name="adj" fmla="val 4369"/>
            </a:avLst>
          </a:prstGeom>
          <a:solidFill>
            <a:srgbClr val="F7F8F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09800"/>
            <a:ext cx="5232350" cy="152400"/>
          </a:xfrm>
          <a:prstGeom prst="rect">
            <a:avLst/>
          </a:prstGeom>
          <a:solidFill>
            <a:srgbClr val="B1CC33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819400"/>
            <a:ext cx="4749745" cy="498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487"/>
              </a:lnSpc>
              <a:buNone/>
            </a:pPr>
            <a:r>
              <a:rPr lang="en-US" sz="345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 cited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71600" y="3546128"/>
            <a:ext cx="4447489" cy="2247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519"/>
              </a:lnSpc>
              <a:buNone/>
            </a:pPr>
            <a:r>
              <a:rPr lang="en-US" sz="24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AI suggestion cites the specific GDS or NCSC clause it's based on. A suggestion without a citation is a bug in the tool.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71600" y="8334375"/>
            <a:ext cx="4317950" cy="19050"/>
          </a:xfrm>
          <a:prstGeom prst="rect">
            <a:avLst/>
          </a:prstGeom>
          <a:solidFill>
            <a:srgbClr val="D9DCDC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8620125"/>
            <a:ext cx="44474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4A4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citation → bug report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27750" y="2209800"/>
            <a:ext cx="5232425" cy="7162800"/>
          </a:xfrm>
          <a:prstGeom prst="roundRect">
            <a:avLst>
              <a:gd name="adj" fmla="val 4369"/>
            </a:avLst>
          </a:prstGeom>
          <a:solidFill>
            <a:srgbClr val="F7F8F8"/>
          </a:solidFill>
          <a:ln/>
        </p:spPr>
      </p:sp>
      <p:sp>
        <p:nvSpPr>
          <p:cNvPr id="11" name="Shape 9"/>
          <p:cNvSpPr/>
          <p:nvPr/>
        </p:nvSpPr>
        <p:spPr>
          <a:xfrm>
            <a:off x="6527750" y="2209800"/>
            <a:ext cx="5232425" cy="152400"/>
          </a:xfrm>
          <a:prstGeom prst="rect">
            <a:avLst/>
          </a:prstGeom>
          <a:solidFill>
            <a:srgbClr val="FFDD00"/>
          </a:solidFill>
          <a:ln/>
        </p:spPr>
      </p:sp>
      <p:sp>
        <p:nvSpPr>
          <p:cNvPr id="12" name="Text 10"/>
          <p:cNvSpPr/>
          <p:nvPr/>
        </p:nvSpPr>
        <p:spPr>
          <a:xfrm>
            <a:off x="6984950" y="2819400"/>
            <a:ext cx="4749827" cy="498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487"/>
              </a:lnSpc>
              <a:buNone/>
            </a:pPr>
            <a:r>
              <a:rPr lang="en-US" sz="345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Pre-validated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6984950" y="3546128"/>
            <a:ext cx="4447566" cy="2247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519"/>
              </a:lnSpc>
              <a:buNone/>
            </a:pPr>
            <a:r>
              <a:rPr lang="en-US" sz="24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 you see a patch, we've applied it to a copy and re-validated. Anything that would break the spec is dropped and never rendered.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984950" y="8334375"/>
            <a:ext cx="4318025" cy="19050"/>
          </a:xfrm>
          <a:prstGeom prst="rect">
            <a:avLst/>
          </a:prstGeom>
          <a:solidFill>
            <a:srgbClr val="D9DCDC"/>
          </a:solidFill>
          <a:ln/>
        </p:spPr>
      </p:sp>
      <p:sp>
        <p:nvSpPr>
          <p:cNvPr id="15" name="Text 13"/>
          <p:cNvSpPr/>
          <p:nvPr/>
        </p:nvSpPr>
        <p:spPr>
          <a:xfrm>
            <a:off x="6984950" y="8620125"/>
            <a:ext cx="444756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4A4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Broken patches never shown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141175" y="2209800"/>
            <a:ext cx="5232350" cy="7162800"/>
          </a:xfrm>
          <a:prstGeom prst="roundRect">
            <a:avLst>
              <a:gd name="adj" fmla="val 4369"/>
            </a:avLst>
          </a:prstGeom>
          <a:solidFill>
            <a:srgbClr val="F7F8F8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41175" y="2209800"/>
            <a:ext cx="5232350" cy="152400"/>
          </a:xfrm>
          <a:prstGeom prst="rect">
            <a:avLst/>
          </a:prstGeom>
          <a:solidFill>
            <a:srgbClr val="F499C6"/>
          </a:solidFill>
          <a:ln/>
        </p:spPr>
      </p:sp>
      <p:sp>
        <p:nvSpPr>
          <p:cNvPr id="18" name="Text 16"/>
          <p:cNvSpPr/>
          <p:nvPr/>
        </p:nvSpPr>
        <p:spPr>
          <a:xfrm>
            <a:off x="12598375" y="2819400"/>
            <a:ext cx="4749745" cy="498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487"/>
              </a:lnSpc>
              <a:buNone/>
            </a:pPr>
            <a:r>
              <a:rPr lang="en-US" sz="345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Never automatic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12598375" y="3546128"/>
            <a:ext cx="4447489" cy="18344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519"/>
              </a:lnSpc>
              <a:buNone/>
            </a:pPr>
            <a:r>
              <a:rPr lang="en-US" sz="24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file changes without a </a:t>
            </a:r>
            <a:pPr algn="l" indent="0" marL="0">
              <a:lnSpc>
                <a:spcPct val="120519"/>
              </a:lnSpc>
              <a:buNone/>
            </a:pPr>
            <a:r>
              <a:rPr lang="en-US" sz="2400" b="1" dirty="0">
                <a:solidFill>
                  <a:srgbClr val="0B0C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</a:t>
            </a:r>
            <a:pPr algn="l" indent="0" marL="0">
              <a:lnSpc>
                <a:spcPct val="120519"/>
              </a:lnSpc>
              <a:buNone/>
            </a:pPr>
            <a:r>
              <a:rPr lang="en-US" sz="24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There is no auto-apply mode — a deliberate constraint, not a gap.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2598375" y="8334375"/>
            <a:ext cx="4317950" cy="19050"/>
          </a:xfrm>
          <a:prstGeom prst="rect">
            <a:avLst/>
          </a:prstGeom>
          <a:solidFill>
            <a:srgbClr val="D9DCDC"/>
          </a:solidFill>
          <a:ln/>
        </p:spPr>
      </p:sp>
      <p:sp>
        <p:nvSpPr>
          <p:cNvPr id="21" name="Text 19"/>
          <p:cNvSpPr/>
          <p:nvPr/>
        </p:nvSpPr>
        <p:spPr>
          <a:xfrm>
            <a:off x="12598375" y="8620125"/>
            <a:ext cx="44474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4A4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keypress per change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28688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FFDD00"/>
          </a:solidFill>
          <a:ln/>
        </p:spPr>
      </p:sp>
      <p:sp>
        <p:nvSpPr>
          <p:cNvPr id="3" name="Text 1"/>
          <p:cNvSpPr/>
          <p:nvPr/>
        </p:nvSpPr>
        <p:spPr>
          <a:xfrm>
            <a:off x="1409700" y="914400"/>
            <a:ext cx="271580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4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CHANGES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85737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FDD0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704975"/>
            <a:ext cx="16482060" cy="99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Compliance moves from a code-review problem to a </a:t>
            </a:r>
            <a:pPr algn="l" indent="0" marL="0">
              <a:lnSpc>
                <a:spcPct val="117209"/>
              </a:lnSpc>
              <a:buNone/>
            </a:pPr>
            <a:r>
              <a:rPr lang="en-US" sz="270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before-you-commit problem </a:t>
            </a:r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where it's cheapest to fix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319846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FDD0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3046065"/>
            <a:ext cx="11119984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shared clause map, so teams stop diverging on interpretation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05951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B1CC33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3907110"/>
            <a:ext cx="1500050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Juniors get the clause and the fix inline, instead of red-pen feedback in review comments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492055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B1CC33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4768155"/>
            <a:ext cx="12666479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run emits telemetry, so "did the check actually run" has a real answer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57801"/>
            <a:ext cx="16459200" cy="2938463"/>
          </a:xfrm>
          <a:prstGeom prst="roundRect">
            <a:avLst>
              <a:gd name="adj" fmla="val 7780"/>
            </a:avLst>
          </a:prstGeom>
          <a:solidFill>
            <a:srgbClr val="F499C6"/>
          </a:solidFill>
          <a:ln/>
        </p:spPr>
      </p:sp>
      <p:sp>
        <p:nvSpPr>
          <p:cNvPr id="13" name="Text 11"/>
          <p:cNvSpPr/>
          <p:nvPr/>
        </p:nvSpPr>
        <p:spPr>
          <a:xfrm>
            <a:off x="1485900" y="6353101"/>
            <a:ext cx="168478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B0C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THE ORIGINAL PITCH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85900" y="6800776"/>
            <a:ext cx="10080392" cy="1538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941"/>
              </a:lnSpc>
              <a:buNone/>
            </a:pPr>
            <a:r>
              <a:rPr lang="en-US" sz="315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spec that meets the GDS standard is also a spec an AI agent can consume without hand-holding. That's the one that ages best.</a:t>
            </a:r>
            <a:endParaRPr lang="en-US" sz="3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63346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633"/>
              </a:lnSpc>
              <a:buNone/>
            </a:pPr>
            <a:r>
              <a:rPr lang="en-US" sz="6000" b="1" spc="-150" kern="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What's next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36220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B1CC33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2209800"/>
            <a:ext cx="7613142" cy="99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</a:t>
            </a:r>
            <a:pPr algn="l" indent="0" marL="0">
              <a:lnSpc>
                <a:spcPct val="117209"/>
              </a:lnSpc>
              <a:buNone/>
            </a:pPr>
            <a:r>
              <a:rPr lang="en-US" sz="270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Action </a:t>
            </a:r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so the same checks run on every pull request as annotations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6519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B1CC33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3512790"/>
            <a:ext cx="7613142" cy="99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209"/>
              </a:lnSpc>
              <a:buNone/>
            </a:pPr>
            <a:r>
              <a:rPr lang="en-US" sz="270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More rules. </a:t>
            </a:r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v1 ceiling is the whole GDS standard, not the subset we shipped this week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96818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B1CC33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4815780"/>
            <a:ext cx="7613142" cy="99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</a:t>
            </a:r>
            <a:pPr algn="l" indent="0" marL="0">
              <a:lnSpc>
                <a:spcPct val="117209"/>
              </a:lnSpc>
              <a:buNone/>
            </a:pPr>
            <a:r>
              <a:rPr lang="en-US" sz="270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clause map </a:t>
            </a:r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that gov teams contribute back to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" y="6271171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B1CC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6118771"/>
            <a:ext cx="7613142" cy="1478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</a:t>
            </a:r>
            <a:pPr algn="l" indent="0" marL="0">
              <a:lnSpc>
                <a:spcPct val="117209"/>
              </a:lnSpc>
              <a:buNone/>
            </a:pPr>
            <a:r>
              <a:rPr lang="en-US" sz="2700" b="1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 Code extension </a:t>
            </a:r>
            <a:pPr algn="l" indent="0" marL="0">
              <a:lnSpc>
                <a:spcPct val="117209"/>
              </a:lnSpc>
              <a:buNone/>
            </a:pPr>
            <a:r>
              <a:rPr lang="en-US" sz="2700" dirty="0">
                <a:solidFill>
                  <a:srgbClr val="0B0C0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so findings surface as squigglies in the editor before the commit hook ever fires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" y="9053513"/>
            <a:ext cx="863346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Thanks — questions welcome.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525000" y="914400"/>
            <a:ext cx="7848600" cy="8458200"/>
          </a:xfrm>
          <a:prstGeom prst="roundRect">
            <a:avLst>
              <a:gd name="adj" fmla="val 2913"/>
            </a:avLst>
          </a:prstGeom>
          <a:solidFill>
            <a:srgbClr val="0B0C0C"/>
          </a:solidFill>
          <a:ln/>
        </p:spPr>
      </p:sp>
      <p:sp>
        <p:nvSpPr>
          <p:cNvPr id="13" name="Text 11"/>
          <p:cNvSpPr/>
          <p:nvPr/>
        </p:nvSpPr>
        <p:spPr>
          <a:xfrm>
            <a:off x="10134600" y="1524000"/>
            <a:ext cx="72923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8B8F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ON THE ROADMAP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134600" y="229552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499C6"/>
          </a:solidFill>
          <a:ln/>
        </p:spPr>
      </p:sp>
      <p:sp>
        <p:nvSpPr>
          <p:cNvPr id="15" name="Text 13"/>
          <p:cNvSpPr/>
          <p:nvPr/>
        </p:nvSpPr>
        <p:spPr>
          <a:xfrm>
            <a:off x="10553700" y="2162175"/>
            <a:ext cx="2964232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78"/>
              </a:lnSpc>
              <a:buNone/>
            </a:pPr>
            <a:r>
              <a:rPr lang="en-US" sz="2850" dirty="0">
                <a:solidFill>
                  <a:srgbClr val="F2F4F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hosted service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0134600" y="303274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499C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53700" y="2899395"/>
            <a:ext cx="827261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78"/>
              </a:lnSpc>
              <a:buNone/>
            </a:pPr>
            <a:r>
              <a:rPr lang="en-US" sz="2850" dirty="0">
                <a:solidFill>
                  <a:srgbClr val="F2F4F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10134600" y="376996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499C6"/>
          </a:solidFill>
          <a:ln/>
        </p:spPr>
      </p:sp>
      <p:sp>
        <p:nvSpPr>
          <p:cNvPr id="19" name="Text 17"/>
          <p:cNvSpPr/>
          <p:nvPr/>
        </p:nvSpPr>
        <p:spPr>
          <a:xfrm>
            <a:off x="10553700" y="3636615"/>
            <a:ext cx="2279020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78"/>
              </a:lnSpc>
              <a:buNone/>
            </a:pPr>
            <a:r>
              <a:rPr lang="en-US" sz="2850" dirty="0">
                <a:solidFill>
                  <a:srgbClr val="F2F4F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dashboard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10134600" y="450718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499C6"/>
          </a:solidFill>
          <a:ln/>
        </p:spPr>
      </p:sp>
      <p:sp>
        <p:nvSpPr>
          <p:cNvPr id="21" name="Text 19"/>
          <p:cNvSpPr/>
          <p:nvPr/>
        </p:nvSpPr>
        <p:spPr>
          <a:xfrm>
            <a:off x="10553700" y="4373835"/>
            <a:ext cx="3636265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78"/>
              </a:lnSpc>
              <a:buNone/>
            </a:pPr>
            <a:r>
              <a:rPr lang="en-US" sz="2850" dirty="0">
                <a:solidFill>
                  <a:srgbClr val="F2F4F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auto-apply mode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10134600" y="8001967"/>
            <a:ext cx="6629400" cy="19050"/>
          </a:xfrm>
          <a:prstGeom prst="rect">
            <a:avLst/>
          </a:prstGeom>
          <a:solidFill>
            <a:srgbClr val="3D4141"/>
          </a:solidFill>
          <a:ln/>
        </p:spPr>
      </p:sp>
      <p:sp>
        <p:nvSpPr>
          <p:cNvPr id="23" name="Text 21"/>
          <p:cNvSpPr/>
          <p:nvPr/>
        </p:nvSpPr>
        <p:spPr>
          <a:xfrm>
            <a:off x="10134600" y="8325817"/>
            <a:ext cx="6828282" cy="47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602"/>
              </a:lnSpc>
              <a:buNone/>
            </a:pPr>
            <a:r>
              <a:rPr lang="en-US" sz="2550" dirty="0">
                <a:solidFill>
                  <a:srgbClr val="F2F4F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stays a local tool.</a:t>
            </a:r>
            <a:endParaRPr lang="en-US" sz="2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2026-08-06T09:51:19Z</dcterms:created>
  <dcterms:modified xsi:type="dcterms:W3CDTF">2026-08-06T09:51:19Z</dcterms:modified>
</cp:coreProperties>
</file>